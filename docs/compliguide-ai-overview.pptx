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Findings</c:v>
                </c:pt>
              </c:strCache>
            </c:strRef>
          </c:tx>
          <c:spPr>
            <a:solidFill>
              <a:srgbClr val="E5484D"/>
            </a:solidFill>
            <a:effectLst/>
          </c:spPr>
          <c:invertIfNegative val="0"/>
          <c:dLbls>
            <c:numFmt formatCode="#,##0" sourceLinked="0"/>
            <c:txPr>
              <a:bodyPr/>
              <a:lstStyle/>
              <a:p>
                <a:pPr>
                  <a:defRPr b="1" i="0" strike="noStrike" sz="1300" u="none">
                    <a:solidFill>
                      <a:srgbClr val="F2F5FA"/>
                    </a:solidFill>
                    <a:latin typeface="Calibri"/>
                  </a:defRPr>
                </a:pPr>
              </a:p>
            </c:txPr>
            <c:showLegendKey val="0"/>
            <c:showVal val="1"/>
            <c:showCatName val="0"/>
            <c:showSerName val="0"/>
            <c:showPercent val="0"/>
            <c:showBubbleSize val="0"/>
            <c:showLeaderLines val="0"/>
          </c:dLbls>
          <c:dPt>
            <c:idx val="0"/>
            <c:invertIfNegative val="0"/>
            <c:bubble3D val="0"/>
            <c:spPr>
              <a:solidFill>
                <a:srgbClr val="E5484D"/>
              </a:solidFill>
              <a:effectLst/>
            </c:spPr>
          </c:dPt>
          <c:dPt>
            <c:idx val="1"/>
            <c:invertIfNegative val="0"/>
            <c:bubble3D val="0"/>
            <c:spPr>
              <a:solidFill>
                <a:srgbClr val="E08A45"/>
              </a:solidFill>
              <a:effectLst/>
            </c:spPr>
          </c:dPt>
          <c:dPt>
            <c:idx val="2"/>
            <c:invertIfNegative val="0"/>
            <c:bubble3D val="0"/>
            <c:spPr>
              <a:solidFill>
                <a:srgbClr val="C6A24B"/>
              </a:solidFill>
              <a:effectLst/>
            </c:spPr>
          </c:dPt>
          <c:dPt>
            <c:idx val="3"/>
            <c:invertIfNegative val="0"/>
            <c:bubble3D val="0"/>
            <c:spPr>
              <a:solidFill>
                <a:srgbClr val="5F7EA8"/>
              </a:solidFill>
              <a:effectLst/>
            </c:spPr>
          </c:dPt>
          <c:cat>
            <c:multiLvlStrRef>
              <c:f>Sheet1!$A$2:$A$5</c:f>
              <c:multiLvlStrCache>
                <c:ptCount val="4"/>
                <c:lvl>
                  <c:pt idx="0">
                    <c:v>Critical (5)</c:v>
                  </c:pt>
                  <c:pt idx="1">
                    <c:v>High (4)</c:v>
                  </c:pt>
                  <c:pt idx="2">
                    <c:v>Medium (3)</c:v>
                  </c:pt>
                  <c:pt idx="3">
                    <c:v>Low (2)</c:v>
                  </c:pt>
                </c:lvl>
              </c:multiLvlStrCache>
            </c:multiLvlStrRef>
          </c:cat>
          <c:val>
            <c:numRef>
              <c:f>Sheet1!$B$2:$B$5</c:f>
              <c:numCache>
                <c:formatCode>General</c:formatCode>
                <c:ptCount val="4"/>
                <c:pt idx="0">
                  <c:v>3</c:v>
                </c:pt>
                <c:pt idx="1">
                  <c:v>3</c:v>
                </c:pt>
                <c:pt idx="2">
                  <c:v>5</c:v>
                </c:pt>
                <c:pt idx="3">
                  <c:v>2</c:v>
                </c:pt>
              </c:numCache>
            </c:numRef>
          </c:val>
        </c:ser>
        <c:dLbls>
          <c:numFmt formatCode="#,##0" sourceLinked="0"/>
          <c:txPr>
            <a:bodyPr/>
            <a:lstStyle/>
            <a:p>
              <a:pPr>
                <a:defRPr b="1" i="0" strike="noStrike" sz="1300" u="none">
                  <a:solidFill>
                    <a:srgbClr val="F2F5F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2F5FA"/>
                </a:solidFill>
                <a:latin typeface="Calibri"/>
              </a:defRPr>
            </a:pPr>
            <a:endParaRPr lang="en-US"/>
          </a:p>
        </c:txPr>
        <c:crossAx val="2094734552"/>
        <c:crosses val="autoZero"/>
        <c:auto val="1"/>
        <c:lblAlgn val="ctr"/>
        <c:noMultiLvlLbl val="1"/>
      </c:catAx>
      <c:valAx>
        <c:axId val="2094734552"/>
        <c:scaling>
          <c:orientation val="minMax"/>
          <c:max val="6"/>
        </c:scaling>
        <c:delete val="0"/>
        <c:axPos val="b"/>
        <c:majorGridlines>
          <c:spPr>
            <a:ln w="12700" cap="flat">
              <a:solidFill>
                <a:srgbClr val="22335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FA0BA"/>
                </a:solidFill>
                <a:latin typeface="Arial"/>
              </a:defRPr>
            </a:pPr>
            <a:endParaRPr lang="en-US"/>
          </a:p>
        </c:txPr>
        <c:crossAx val="2094734554"/>
        <c:crosses val="autoZero"/>
        <c:crossBetween val="between"/>
      </c:valAx>
      <c:spPr>
        <a:solidFill>
          <a:srgbClr val="0B1B33"/>
        </a:solidFill>
        <a:ln w="12700" cap="flat">
          <a:solidFill>
            <a:srgbClr val="0B1B33"/>
          </a:solidFill>
        </a:ln>
        <a:effectLst/>
      </c:spPr>
    </c:plotArea>
    <c:plotVisOnly val="1"/>
    <c:dispBlanksAs val="span"/>
  </c:chart>
  <c:spPr>
    <a:solidFill>
      <a:srgbClr val="0B1B3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CompliGuide AI. Working build, not a mockup. The findings on the later slides were produced by the code in this repo running over a real compliance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correlation work, not expert judgement. That is what makes it automatable and why the bottleneck is attention, not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moment. Two spreadsheets, two processes, one contractor. Hardware offboarding completed; identity offboarding did not. A human reviewer misses this because the files are never open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is not that we use AI. It is where we refuse to use it. The analysis is deterministic; the model is a narrator.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routes, one dataset. The voice panel is persistent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split: five deterministic steps, one generative step at the end, and no write access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findings, ten distinct rule codes, from seven access rows and ten asset rows. Every one of these numbers came from executing the repo's analysis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argument. Companies are not non-compliant — they are unassembled. The documents exist and nobody has mapped them to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vCISO practice — it is the existing Black Chamber motion and one seat serves many clients. The others are expansion, not the wedge.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regulatory drivers, two technology drivers. They converge on the same requirement: reconstructable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seams out loud. The voice grounding is currently via a compiled knowledge briefing, not live tool calls — that is the next build, and claiming otherwise would be the exact failure the product argues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reframe: unassembled, not non-compliant. That is the sentence to leave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p:bgPr>
    </p:bg>
    <p:spTree>
      <p:nvGrpSpPr>
        <p:cNvPr id="1" name=""/>
        <p:cNvGrpSpPr/>
        <p:nvPr/>
      </p:nvGrpSpPr>
      <p:grpSpPr>
        <a:xfrm>
          <a:off x="0" y="0"/>
          <a:ext cx="0" cy="0"/>
          <a:chOff x="0" y="0"/>
          <a:chExt cx="0" cy="0"/>
        </a:xfrm>
      </p:grpSpPr>
      <p:sp>
        <p:nvSpPr>
          <p:cNvPr id="2" name="Shape 0"/>
          <p:cNvSpPr/>
          <p:nvPr/>
        </p:nvSpPr>
        <p:spPr>
          <a:xfrm>
            <a:off x="640080" y="1481328"/>
            <a:ext cx="1554480" cy="32004"/>
          </a:xfrm>
          <a:prstGeom prst="rect">
            <a:avLst/>
          </a:prstGeom>
          <a:solidFill>
            <a:srgbClr val="00D4E6"/>
          </a:solidFill>
          <a:ln w="12700">
            <a:solidFill>
              <a:srgbClr val="00D4E6"/>
            </a:solidFill>
            <a:prstDash val="solid"/>
          </a:ln>
        </p:spPr>
      </p:sp>
      <p:sp>
        <p:nvSpPr>
          <p:cNvPr id="3" name="Text 1"/>
          <p:cNvSpPr txBox="1"/>
          <p:nvPr/>
        </p:nvSpPr>
        <p:spPr>
          <a:xfrm>
            <a:off x="640080" y="960120"/>
            <a:ext cx="8229600" cy="274320"/>
          </a:xfrm>
          <a:prstGeom prst="rect">
            <a:avLst/>
          </a:prstGeom>
          <a:noFill/>
          <a:ln/>
        </p:spPr>
        <p:txBody>
          <a:bodyPr wrap="square" lIns="0" tIns="0" rIns="0" bIns="0" rtlCol="0" anchor="ctr"/>
          <a:lstStyle/>
          <a:p>
            <a:pPr indent="0" marL="0">
              <a:buNone/>
            </a:pPr>
            <a:r>
              <a:rPr lang="en-US" sz="1100" spc="300" kern="0" dirty="0">
                <a:solidFill>
                  <a:srgbClr val="00D4E6"/>
                </a:solidFill>
                <a:latin typeface="Courier New" pitchFamily="34" charset="0"/>
                <a:ea typeface="Courier New" pitchFamily="34" charset="-122"/>
                <a:cs typeface="Courier New" pitchFamily="34" charset="-120"/>
              </a:rPr>
              <a:t>BLACK CHAMBER  ·  SERAPH SYSTEMS</a:t>
            </a:r>
            <a:endParaRPr lang="en-US" sz="1100" dirty="0"/>
          </a:p>
        </p:txBody>
      </p:sp>
      <p:sp>
        <p:nvSpPr>
          <p:cNvPr id="4" name="Text 2"/>
          <p:cNvSpPr txBox="1"/>
          <p:nvPr/>
        </p:nvSpPr>
        <p:spPr>
          <a:xfrm>
            <a:off x="640080" y="1828800"/>
            <a:ext cx="10058400" cy="1097280"/>
          </a:xfrm>
          <a:prstGeom prst="rect">
            <a:avLst/>
          </a:prstGeom>
          <a:noFill/>
          <a:ln/>
        </p:spPr>
        <p:txBody>
          <a:bodyPr wrap="square" lIns="0" tIns="0" rIns="0" bIns="0" rtlCol="0" anchor="ctr"/>
          <a:lstStyle/>
          <a:p>
            <a:pPr indent="0" marL="0">
              <a:buNone/>
            </a:pPr>
            <a:r>
              <a:rPr lang="en-US" sz="5400" b="1" dirty="0">
                <a:solidFill>
                  <a:srgbClr val="F2F5FA"/>
                </a:solidFill>
                <a:latin typeface="Cambria" pitchFamily="34" charset="0"/>
                <a:ea typeface="Cambria" pitchFamily="34" charset="-122"/>
                <a:cs typeface="Cambria" pitchFamily="34" charset="-120"/>
              </a:rPr>
              <a:t>CompliGuide AI</a:t>
            </a:r>
            <a:endParaRPr lang="en-US" sz="5400" dirty="0"/>
          </a:p>
        </p:txBody>
      </p:sp>
      <p:sp>
        <p:nvSpPr>
          <p:cNvPr id="5" name="Text 3"/>
          <p:cNvSpPr txBox="1"/>
          <p:nvPr/>
        </p:nvSpPr>
        <p:spPr>
          <a:xfrm>
            <a:off x="640080" y="2971800"/>
            <a:ext cx="8778240" cy="914400"/>
          </a:xfrm>
          <a:prstGeom prst="rect">
            <a:avLst/>
          </a:prstGeom>
          <a:noFill/>
          <a:ln/>
        </p:spPr>
        <p:txBody>
          <a:bodyPr wrap="square" lIns="0" tIns="0" rIns="0" bIns="0" rtlCol="0" anchor="ctr"/>
          <a:lstStyle/>
          <a:p>
            <a:pPr indent="0" marL="0">
              <a:lnSpc>
                <a:spcPts val="2800"/>
              </a:lnSpc>
              <a:buNone/>
            </a:pPr>
            <a:r>
              <a:rPr lang="en-US" sz="1900" i="1" dirty="0">
                <a:solidFill>
                  <a:srgbClr val="C6A24B"/>
                </a:solidFill>
                <a:latin typeface="Cambria" pitchFamily="34" charset="0"/>
                <a:ea typeface="Cambria" pitchFamily="34" charset="-122"/>
                <a:cs typeface="Cambria" pitchFamily="34" charset="-120"/>
              </a:rPr>
              <a:t>A voice-assisted compliance reviewer that reads your actual record</a:t>
            </a:r>
            <a:endParaRPr lang="en-US" sz="1900" dirty="0"/>
          </a:p>
          <a:p>
            <a:pPr indent="0" marL="0">
              <a:lnSpc>
                <a:spcPts val="2800"/>
              </a:lnSpc>
              <a:buNone/>
            </a:pPr>
            <a:r>
              <a:rPr lang="en-US" sz="1900" i="1" dirty="0">
                <a:solidFill>
                  <a:srgbClr val="C6A24B"/>
                </a:solidFill>
                <a:latin typeface="Cambria" pitchFamily="34" charset="0"/>
                <a:ea typeface="Cambria" pitchFamily="34" charset="-122"/>
                <a:cs typeface="Cambria" pitchFamily="34" charset="-120"/>
              </a:rPr>
              <a:t>and never makes a number up.</a:t>
            </a:r>
            <a:endParaRPr lang="en-US" sz="1900" dirty="0"/>
          </a:p>
        </p:txBody>
      </p:sp>
      <p:sp>
        <p:nvSpPr>
          <p:cNvPr id="6" name="Text 4"/>
          <p:cNvSpPr txBox="1"/>
          <p:nvPr/>
        </p:nvSpPr>
        <p:spPr>
          <a:xfrm>
            <a:off x="640080" y="4160520"/>
            <a:ext cx="9144000" cy="320040"/>
          </a:xfrm>
          <a:prstGeom prst="rect">
            <a:avLst/>
          </a:prstGeom>
          <a:noFill/>
          <a:ln/>
        </p:spPr>
        <p:txBody>
          <a:bodyPr wrap="square" lIns="0" tIns="0" rIns="0" bIns="0" rtlCol="0" anchor="ctr"/>
          <a:lstStyle/>
          <a:p>
            <a:pPr indent="0" marL="0">
              <a:buNone/>
            </a:pPr>
            <a:r>
              <a:rPr lang="en-US" sz="1400" dirty="0">
                <a:solidFill>
                  <a:srgbClr val="8FA0BA"/>
                </a:solidFill>
                <a:latin typeface="Calibri" pitchFamily="34" charset="0"/>
                <a:ea typeface="Calibri" pitchFamily="34" charset="-122"/>
                <a:cs typeface="Calibri" pitchFamily="34" charset="-120"/>
              </a:rPr>
              <a:t>Working build  ·  </a:t>
            </a:r>
            <a:pPr indent="0" marL="0">
              <a:buNone/>
            </a:pPr>
            <a:r>
              <a:rPr lang="en-US" sz="1400" dirty="0">
                <a:solidFill>
                  <a:srgbClr val="F2F5FA"/>
                </a:solidFill>
                <a:latin typeface="Calibri" pitchFamily="34" charset="0"/>
                <a:ea typeface="Calibri" pitchFamily="34" charset="-122"/>
                <a:cs typeface="Calibri" pitchFamily="34" charset="-120"/>
              </a:rPr>
              <a:t>13 findings raised from a live vendor-compliance corpus</a:t>
            </a:r>
            <a:endParaRPr lang="en-US" sz="1400" dirty="0"/>
          </a:p>
        </p:txBody>
      </p:sp>
      <p:sp>
        <p:nvSpPr>
          <p:cNvPr id="7" name="Shape 5"/>
          <p:cNvSpPr/>
          <p:nvPr/>
        </p:nvSpPr>
        <p:spPr>
          <a:xfrm>
            <a:off x="640080" y="5074920"/>
            <a:ext cx="10881360" cy="18288"/>
          </a:xfrm>
          <a:prstGeom prst="rect">
            <a:avLst/>
          </a:prstGeom>
          <a:solidFill>
            <a:srgbClr val="2C3E5C"/>
          </a:solidFill>
          <a:ln w="12700">
            <a:solidFill>
              <a:srgbClr val="2C3E5C"/>
            </a:solidFill>
            <a:prstDash val="solid"/>
          </a:ln>
        </p:spPr>
      </p:sp>
      <p:sp>
        <p:nvSpPr>
          <p:cNvPr id="8" name="Text 6"/>
          <p:cNvSpPr txBox="1"/>
          <p:nvPr/>
        </p:nvSpPr>
        <p:spPr>
          <a:xfrm>
            <a:off x="640080" y="5257800"/>
            <a:ext cx="10881360" cy="274320"/>
          </a:xfrm>
          <a:prstGeom prst="rect">
            <a:avLst/>
          </a:prstGeom>
          <a:noFill/>
          <a:ln/>
        </p:spPr>
        <p:txBody>
          <a:bodyPr wrap="square" lIns="0" tIns="0" rIns="0" bIns="0" rtlCol="0" anchor="ctr"/>
          <a:lstStyle/>
          <a:p>
            <a:pPr indent="0" marL="0">
              <a:buNone/>
            </a:pPr>
            <a:r>
              <a:rPr lang="en-US" sz="1000" spc="140" kern="0" dirty="0">
                <a:solidFill>
                  <a:srgbClr val="8FA0BA"/>
                </a:solidFill>
                <a:latin typeface="Courier New" pitchFamily="34" charset="0"/>
                <a:ea typeface="Courier New" pitchFamily="34" charset="-122"/>
                <a:cs typeface="Courier New" pitchFamily="34" charset="-120"/>
              </a:rPr>
              <a:t>github.com/Mkultra00/compliguide-ai   ·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THE PROBLEM</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Compliance review is correlation, not judgement</a:t>
            </a:r>
            <a:endParaRPr lang="en-US" sz="3600" dirty="0"/>
          </a:p>
        </p:txBody>
      </p:sp>
      <p:sp>
        <p:nvSpPr>
          <p:cNvPr id="4" name="Text 2"/>
          <p:cNvSpPr txBox="1"/>
          <p:nvPr/>
        </p:nvSpPr>
        <p:spPr>
          <a:xfrm>
            <a:off x="640080" y="1600200"/>
            <a:ext cx="10881360" cy="685800"/>
          </a:xfrm>
          <a:prstGeom prst="rect">
            <a:avLst/>
          </a:prstGeom>
          <a:noFill/>
          <a:ln/>
        </p:spPr>
        <p:txBody>
          <a:bodyPr wrap="square" lIns="0" tIns="0" rIns="0" bIns="0" rtlCol="0" anchor="ctr"/>
          <a:lstStyle/>
          <a:p>
            <a:pPr indent="0" marL="0">
              <a:lnSpc>
                <a:spcPts val="2200"/>
              </a:lnSpc>
              <a:buNone/>
            </a:pPr>
            <a:r>
              <a:rPr lang="en-US" sz="1500" dirty="0">
                <a:solidFill>
                  <a:srgbClr val="8FA0BA"/>
                </a:solidFill>
                <a:latin typeface="Calibri" pitchFamily="34" charset="0"/>
                <a:ea typeface="Calibri" pitchFamily="34" charset="-122"/>
                <a:cs typeface="Calibri" pitchFamily="34" charset="-120"/>
              </a:rPr>
              <a:t>The work is not hard. It is reading eleven policy documents, two spreadsheets, a SOC 2 report and a 65-question vendor questionnaire, and noticing what does not line up. That is tedious, high-volume, low-glory work — which is exactly why it gets skipped.</a:t>
            </a:r>
            <a:endParaRPr lang="en-US" sz="1500" dirty="0"/>
          </a:p>
        </p:txBody>
      </p:sp>
      <p:sp>
        <p:nvSpPr>
          <p:cNvPr id="5" name="Shape 3"/>
          <p:cNvSpPr/>
          <p:nvPr/>
        </p:nvSpPr>
        <p:spPr>
          <a:xfrm>
            <a:off x="640080" y="2788920"/>
            <a:ext cx="5285232" cy="1316736"/>
          </a:xfrm>
          <a:prstGeom prst="roundRect">
            <a:avLst>
              <a:gd name="adj" fmla="val 4167"/>
            </a:avLst>
          </a:prstGeom>
          <a:solidFill>
            <a:srgbClr val="152743"/>
          </a:solidFill>
          <a:ln w="9525">
            <a:solidFill>
              <a:srgbClr val="1D3453"/>
            </a:solidFill>
            <a:prstDash val="solid"/>
          </a:ln>
        </p:spPr>
      </p:sp>
      <p:sp>
        <p:nvSpPr>
          <p:cNvPr id="6" name="Text 4"/>
          <p:cNvSpPr txBox="1"/>
          <p:nvPr/>
        </p:nvSpPr>
        <p:spPr>
          <a:xfrm>
            <a:off x="896112" y="2971800"/>
            <a:ext cx="548640" cy="274320"/>
          </a:xfrm>
          <a:prstGeom prst="rect">
            <a:avLst/>
          </a:prstGeom>
          <a:noFill/>
          <a:ln/>
        </p:spPr>
        <p:txBody>
          <a:bodyPr wrap="square" lIns="0" tIns="0" rIns="0" bIns="0" rtlCol="0" anchor="ctr"/>
          <a:lstStyle/>
          <a:p>
            <a:pPr indent="0" marL="0">
              <a:buNone/>
            </a:pPr>
            <a:r>
              <a:rPr lang="en-US" sz="1100" spc="150" kern="0" dirty="0">
                <a:solidFill>
                  <a:srgbClr val="00D4E6"/>
                </a:solidFill>
                <a:latin typeface="Courier New" pitchFamily="34" charset="0"/>
                <a:ea typeface="Courier New" pitchFamily="34" charset="-122"/>
                <a:cs typeface="Courier New" pitchFamily="34" charset="-120"/>
              </a:rPr>
              <a:t>01</a:t>
            </a:r>
            <a:endParaRPr lang="en-US" sz="1100" dirty="0"/>
          </a:p>
        </p:txBody>
      </p:sp>
      <p:sp>
        <p:nvSpPr>
          <p:cNvPr id="7" name="Text 5"/>
          <p:cNvSpPr txBox="1"/>
          <p:nvPr/>
        </p:nvSpPr>
        <p:spPr>
          <a:xfrm>
            <a:off x="896112" y="3246120"/>
            <a:ext cx="4754880" cy="292608"/>
          </a:xfrm>
          <a:prstGeom prst="rect">
            <a:avLst/>
          </a:prstGeom>
          <a:noFill/>
          <a:ln/>
        </p:spPr>
        <p:txBody>
          <a:bodyPr wrap="square" lIns="0" tIns="0" rIns="0" bIns="0" rtlCol="0" anchor="ctr"/>
          <a:lstStyle/>
          <a:p>
            <a:pPr indent="0" marL="0">
              <a:buNone/>
            </a:pPr>
            <a:r>
              <a:rPr lang="en-US" sz="1600" b="1" dirty="0">
                <a:solidFill>
                  <a:srgbClr val="F2F5FA"/>
                </a:solidFill>
                <a:latin typeface="Cambria" pitchFamily="34" charset="0"/>
                <a:ea typeface="Cambria" pitchFamily="34" charset="-122"/>
                <a:cs typeface="Cambria" pitchFamily="34" charset="-120"/>
              </a:rPr>
              <a:t>Evidence is scattered</a:t>
            </a:r>
            <a:endParaRPr lang="en-US" sz="1600" dirty="0"/>
          </a:p>
        </p:txBody>
      </p:sp>
      <p:sp>
        <p:nvSpPr>
          <p:cNvPr id="8" name="Text 6"/>
          <p:cNvSpPr txBox="1"/>
          <p:nvPr/>
        </p:nvSpPr>
        <p:spPr>
          <a:xfrm>
            <a:off x="896112" y="3557016"/>
            <a:ext cx="4791456" cy="457200"/>
          </a:xfrm>
          <a:prstGeom prst="rect">
            <a:avLst/>
          </a:prstGeom>
          <a:noFill/>
          <a:ln/>
        </p:spPr>
        <p:txBody>
          <a:bodyPr wrap="square" lIns="0" tIns="0" rIns="0" bIns="0" rtlCol="0" anchor="ctr"/>
          <a:lstStyle/>
          <a:p>
            <a:pPr indent="0" marL="0">
              <a:lnSpc>
                <a:spcPts val="1500"/>
              </a:lnSpc>
              <a:buNone/>
            </a:pPr>
            <a:r>
              <a:rPr lang="en-US" sz="1200" dirty="0">
                <a:solidFill>
                  <a:srgbClr val="8FA0BA"/>
                </a:solidFill>
                <a:latin typeface="Calibri" pitchFamily="34" charset="0"/>
                <a:ea typeface="Calibri" pitchFamily="34" charset="-122"/>
                <a:cs typeface="Calibri" pitchFamily="34" charset="-120"/>
              </a:rPr>
              <a:t>Access records, asset inventories, contracts and policies live in separate files. Nothing joins them.</a:t>
            </a:r>
            <a:endParaRPr lang="en-US" sz="1200" dirty="0"/>
          </a:p>
        </p:txBody>
      </p:sp>
      <p:sp>
        <p:nvSpPr>
          <p:cNvPr id="9" name="Shape 7"/>
          <p:cNvSpPr/>
          <p:nvPr/>
        </p:nvSpPr>
        <p:spPr>
          <a:xfrm>
            <a:off x="6236208" y="2788920"/>
            <a:ext cx="5285232" cy="1316736"/>
          </a:xfrm>
          <a:prstGeom prst="roundRect">
            <a:avLst>
              <a:gd name="adj" fmla="val 4167"/>
            </a:avLst>
          </a:prstGeom>
          <a:solidFill>
            <a:srgbClr val="152743"/>
          </a:solidFill>
          <a:ln w="9525">
            <a:solidFill>
              <a:srgbClr val="1D3453"/>
            </a:solidFill>
            <a:prstDash val="solid"/>
          </a:ln>
        </p:spPr>
      </p:sp>
      <p:sp>
        <p:nvSpPr>
          <p:cNvPr id="10" name="Text 8"/>
          <p:cNvSpPr txBox="1"/>
          <p:nvPr/>
        </p:nvSpPr>
        <p:spPr>
          <a:xfrm>
            <a:off x="6492240" y="2971800"/>
            <a:ext cx="548640" cy="274320"/>
          </a:xfrm>
          <a:prstGeom prst="rect">
            <a:avLst/>
          </a:prstGeom>
          <a:noFill/>
          <a:ln/>
        </p:spPr>
        <p:txBody>
          <a:bodyPr wrap="square" lIns="0" tIns="0" rIns="0" bIns="0" rtlCol="0" anchor="ctr"/>
          <a:lstStyle/>
          <a:p>
            <a:pPr indent="0" marL="0">
              <a:buNone/>
            </a:pPr>
            <a:r>
              <a:rPr lang="en-US" sz="1100" spc="150" kern="0" dirty="0">
                <a:solidFill>
                  <a:srgbClr val="00D4E6"/>
                </a:solidFill>
                <a:latin typeface="Courier New" pitchFamily="34" charset="0"/>
                <a:ea typeface="Courier New" pitchFamily="34" charset="-122"/>
                <a:cs typeface="Courier New" pitchFamily="34" charset="-120"/>
              </a:rPr>
              <a:t>02</a:t>
            </a:r>
            <a:endParaRPr lang="en-US" sz="1100" dirty="0"/>
          </a:p>
        </p:txBody>
      </p:sp>
      <p:sp>
        <p:nvSpPr>
          <p:cNvPr id="11" name="Text 9"/>
          <p:cNvSpPr txBox="1"/>
          <p:nvPr/>
        </p:nvSpPr>
        <p:spPr>
          <a:xfrm>
            <a:off x="6492240" y="3246120"/>
            <a:ext cx="4754880" cy="292608"/>
          </a:xfrm>
          <a:prstGeom prst="rect">
            <a:avLst/>
          </a:prstGeom>
          <a:noFill/>
          <a:ln/>
        </p:spPr>
        <p:txBody>
          <a:bodyPr wrap="square" lIns="0" tIns="0" rIns="0" bIns="0" rtlCol="0" anchor="ctr"/>
          <a:lstStyle/>
          <a:p>
            <a:pPr indent="0" marL="0">
              <a:buNone/>
            </a:pPr>
            <a:r>
              <a:rPr lang="en-US" sz="1600" b="1" dirty="0">
                <a:solidFill>
                  <a:srgbClr val="F2F5FA"/>
                </a:solidFill>
                <a:latin typeface="Cambria" pitchFamily="34" charset="0"/>
                <a:ea typeface="Cambria" pitchFamily="34" charset="-122"/>
                <a:cs typeface="Cambria" pitchFamily="34" charset="-120"/>
              </a:rPr>
              <a:t>Review is periodic</a:t>
            </a:r>
            <a:endParaRPr lang="en-US" sz="1600" dirty="0"/>
          </a:p>
        </p:txBody>
      </p:sp>
      <p:sp>
        <p:nvSpPr>
          <p:cNvPr id="12" name="Text 10"/>
          <p:cNvSpPr txBox="1"/>
          <p:nvPr/>
        </p:nvSpPr>
        <p:spPr>
          <a:xfrm>
            <a:off x="6492240" y="3557016"/>
            <a:ext cx="4791456" cy="457200"/>
          </a:xfrm>
          <a:prstGeom prst="rect">
            <a:avLst/>
          </a:prstGeom>
          <a:noFill/>
          <a:ln/>
        </p:spPr>
        <p:txBody>
          <a:bodyPr wrap="square" lIns="0" tIns="0" rIns="0" bIns="0" rtlCol="0" anchor="ctr"/>
          <a:lstStyle/>
          <a:p>
            <a:pPr indent="0" marL="0">
              <a:lnSpc>
                <a:spcPts val="1500"/>
              </a:lnSpc>
              <a:buNone/>
            </a:pPr>
            <a:r>
              <a:rPr lang="en-US" sz="1200" dirty="0">
                <a:solidFill>
                  <a:srgbClr val="8FA0BA"/>
                </a:solidFill>
                <a:latin typeface="Calibri" pitchFamily="34" charset="0"/>
                <a:ea typeface="Calibri" pitchFamily="34" charset="-122"/>
                <a:cs typeface="Calibri" pitchFamily="34" charset="-120"/>
              </a:rPr>
              <a:t>A quarterly access review means a revoked contractor keeps production admin for up to ninety days.</a:t>
            </a:r>
            <a:endParaRPr lang="en-US" sz="1200" dirty="0"/>
          </a:p>
        </p:txBody>
      </p:sp>
      <p:sp>
        <p:nvSpPr>
          <p:cNvPr id="13" name="Shape 11"/>
          <p:cNvSpPr/>
          <p:nvPr/>
        </p:nvSpPr>
        <p:spPr>
          <a:xfrm>
            <a:off x="640080" y="4361688"/>
            <a:ext cx="5285232" cy="1316736"/>
          </a:xfrm>
          <a:prstGeom prst="roundRect">
            <a:avLst>
              <a:gd name="adj" fmla="val 4167"/>
            </a:avLst>
          </a:prstGeom>
          <a:solidFill>
            <a:srgbClr val="152743"/>
          </a:solidFill>
          <a:ln w="9525">
            <a:solidFill>
              <a:srgbClr val="1D3453"/>
            </a:solidFill>
            <a:prstDash val="solid"/>
          </a:ln>
        </p:spPr>
      </p:sp>
      <p:sp>
        <p:nvSpPr>
          <p:cNvPr id="14" name="Text 12"/>
          <p:cNvSpPr txBox="1"/>
          <p:nvPr/>
        </p:nvSpPr>
        <p:spPr>
          <a:xfrm>
            <a:off x="896112" y="4544568"/>
            <a:ext cx="548640" cy="274320"/>
          </a:xfrm>
          <a:prstGeom prst="rect">
            <a:avLst/>
          </a:prstGeom>
          <a:noFill/>
          <a:ln/>
        </p:spPr>
        <p:txBody>
          <a:bodyPr wrap="square" lIns="0" tIns="0" rIns="0" bIns="0" rtlCol="0" anchor="ctr"/>
          <a:lstStyle/>
          <a:p>
            <a:pPr indent="0" marL="0">
              <a:buNone/>
            </a:pPr>
            <a:r>
              <a:rPr lang="en-US" sz="1100" spc="150" kern="0" dirty="0">
                <a:solidFill>
                  <a:srgbClr val="00D4E6"/>
                </a:solidFill>
                <a:latin typeface="Courier New" pitchFamily="34" charset="0"/>
                <a:ea typeface="Courier New" pitchFamily="34" charset="-122"/>
                <a:cs typeface="Courier New" pitchFamily="34" charset="-120"/>
              </a:rPr>
              <a:t>03</a:t>
            </a:r>
            <a:endParaRPr lang="en-US" sz="1100" dirty="0"/>
          </a:p>
        </p:txBody>
      </p:sp>
      <p:sp>
        <p:nvSpPr>
          <p:cNvPr id="15" name="Text 13"/>
          <p:cNvSpPr txBox="1"/>
          <p:nvPr/>
        </p:nvSpPr>
        <p:spPr>
          <a:xfrm>
            <a:off x="896112" y="4818888"/>
            <a:ext cx="4754880" cy="292608"/>
          </a:xfrm>
          <a:prstGeom prst="rect">
            <a:avLst/>
          </a:prstGeom>
          <a:noFill/>
          <a:ln/>
        </p:spPr>
        <p:txBody>
          <a:bodyPr wrap="square" lIns="0" tIns="0" rIns="0" bIns="0" rtlCol="0" anchor="ctr"/>
          <a:lstStyle/>
          <a:p>
            <a:pPr indent="0" marL="0">
              <a:buNone/>
            </a:pPr>
            <a:r>
              <a:rPr lang="en-US" sz="1600" b="1" dirty="0">
                <a:solidFill>
                  <a:srgbClr val="F2F5FA"/>
                </a:solidFill>
                <a:latin typeface="Cambria" pitchFamily="34" charset="0"/>
                <a:ea typeface="Cambria" pitchFamily="34" charset="-122"/>
                <a:cs typeface="Cambria" pitchFamily="34" charset="-120"/>
              </a:rPr>
              <a:t>Findings lose their source</a:t>
            </a:r>
            <a:endParaRPr lang="en-US" sz="1600" dirty="0"/>
          </a:p>
        </p:txBody>
      </p:sp>
      <p:sp>
        <p:nvSpPr>
          <p:cNvPr id="16" name="Text 14"/>
          <p:cNvSpPr txBox="1"/>
          <p:nvPr/>
        </p:nvSpPr>
        <p:spPr>
          <a:xfrm>
            <a:off x="896112" y="5129784"/>
            <a:ext cx="4791456" cy="457200"/>
          </a:xfrm>
          <a:prstGeom prst="rect">
            <a:avLst/>
          </a:prstGeom>
          <a:noFill/>
          <a:ln/>
        </p:spPr>
        <p:txBody>
          <a:bodyPr wrap="square" lIns="0" tIns="0" rIns="0" bIns="0" rtlCol="0" anchor="ctr"/>
          <a:lstStyle/>
          <a:p>
            <a:pPr indent="0" marL="0">
              <a:lnSpc>
                <a:spcPts val="1500"/>
              </a:lnSpc>
              <a:buNone/>
            </a:pPr>
            <a:r>
              <a:rPr lang="en-US" sz="1200" dirty="0">
                <a:solidFill>
                  <a:srgbClr val="8FA0BA"/>
                </a:solidFill>
                <a:latin typeface="Calibri" pitchFamily="34" charset="0"/>
                <a:ea typeface="Calibri" pitchFamily="34" charset="-122"/>
                <a:cs typeface="Calibri" pitchFamily="34" charset="-120"/>
              </a:rPr>
              <a:t>By the time a finding reaches a remediation ticket, nobody can say which cell it came from.</a:t>
            </a:r>
            <a:endParaRPr lang="en-US" sz="1200" dirty="0"/>
          </a:p>
        </p:txBody>
      </p:sp>
      <p:sp>
        <p:nvSpPr>
          <p:cNvPr id="17" name="Shape 15"/>
          <p:cNvSpPr/>
          <p:nvPr/>
        </p:nvSpPr>
        <p:spPr>
          <a:xfrm>
            <a:off x="6236208" y="4361688"/>
            <a:ext cx="5285232" cy="1316736"/>
          </a:xfrm>
          <a:prstGeom prst="roundRect">
            <a:avLst>
              <a:gd name="adj" fmla="val 4167"/>
            </a:avLst>
          </a:prstGeom>
          <a:solidFill>
            <a:srgbClr val="152743"/>
          </a:solidFill>
          <a:ln w="9525">
            <a:solidFill>
              <a:srgbClr val="1D3453"/>
            </a:solidFill>
            <a:prstDash val="solid"/>
          </a:ln>
        </p:spPr>
      </p:sp>
      <p:sp>
        <p:nvSpPr>
          <p:cNvPr id="18" name="Text 16"/>
          <p:cNvSpPr txBox="1"/>
          <p:nvPr/>
        </p:nvSpPr>
        <p:spPr>
          <a:xfrm>
            <a:off x="6492240" y="4544568"/>
            <a:ext cx="548640" cy="274320"/>
          </a:xfrm>
          <a:prstGeom prst="rect">
            <a:avLst/>
          </a:prstGeom>
          <a:noFill/>
          <a:ln/>
        </p:spPr>
        <p:txBody>
          <a:bodyPr wrap="square" lIns="0" tIns="0" rIns="0" bIns="0" rtlCol="0" anchor="ctr"/>
          <a:lstStyle/>
          <a:p>
            <a:pPr indent="0" marL="0">
              <a:buNone/>
            </a:pPr>
            <a:r>
              <a:rPr lang="en-US" sz="1100" spc="150" kern="0" dirty="0">
                <a:solidFill>
                  <a:srgbClr val="00D4E6"/>
                </a:solidFill>
                <a:latin typeface="Courier New" pitchFamily="34" charset="0"/>
                <a:ea typeface="Courier New" pitchFamily="34" charset="-122"/>
                <a:cs typeface="Courier New" pitchFamily="34" charset="-120"/>
              </a:rPr>
              <a:t>04</a:t>
            </a:r>
            <a:endParaRPr lang="en-US" sz="1100" dirty="0"/>
          </a:p>
        </p:txBody>
      </p:sp>
      <p:sp>
        <p:nvSpPr>
          <p:cNvPr id="19" name="Text 17"/>
          <p:cNvSpPr txBox="1"/>
          <p:nvPr/>
        </p:nvSpPr>
        <p:spPr>
          <a:xfrm>
            <a:off x="6492240" y="4818888"/>
            <a:ext cx="4754880" cy="292608"/>
          </a:xfrm>
          <a:prstGeom prst="rect">
            <a:avLst/>
          </a:prstGeom>
          <a:noFill/>
          <a:ln/>
        </p:spPr>
        <p:txBody>
          <a:bodyPr wrap="square" lIns="0" tIns="0" rIns="0" bIns="0" rtlCol="0" anchor="ctr"/>
          <a:lstStyle/>
          <a:p>
            <a:pPr indent="0" marL="0">
              <a:buNone/>
            </a:pPr>
            <a:r>
              <a:rPr lang="en-US" sz="1600" b="1" dirty="0">
                <a:solidFill>
                  <a:srgbClr val="F2F5FA"/>
                </a:solidFill>
                <a:latin typeface="Cambria" pitchFamily="34" charset="0"/>
                <a:ea typeface="Cambria" pitchFamily="34" charset="-122"/>
                <a:cs typeface="Cambria" pitchFamily="34" charset="-120"/>
              </a:rPr>
              <a:t>The record must survive audit</a:t>
            </a:r>
            <a:endParaRPr lang="en-US" sz="1600" dirty="0"/>
          </a:p>
        </p:txBody>
      </p:sp>
      <p:sp>
        <p:nvSpPr>
          <p:cNvPr id="20" name="Text 18"/>
          <p:cNvSpPr txBox="1"/>
          <p:nvPr/>
        </p:nvSpPr>
        <p:spPr>
          <a:xfrm>
            <a:off x="6492240" y="5129784"/>
            <a:ext cx="4791456" cy="457200"/>
          </a:xfrm>
          <a:prstGeom prst="rect">
            <a:avLst/>
          </a:prstGeom>
          <a:noFill/>
          <a:ln/>
        </p:spPr>
        <p:txBody>
          <a:bodyPr wrap="square" lIns="0" tIns="0" rIns="0" bIns="0" rtlCol="0" anchor="ctr"/>
          <a:lstStyle/>
          <a:p>
            <a:pPr indent="0" marL="0">
              <a:lnSpc>
                <a:spcPts val="1500"/>
              </a:lnSpc>
              <a:buNone/>
            </a:pPr>
            <a:r>
              <a:rPr lang="en-US" sz="1200" dirty="0">
                <a:solidFill>
                  <a:srgbClr val="8FA0BA"/>
                </a:solidFill>
                <a:latin typeface="Calibri" pitchFamily="34" charset="0"/>
                <a:ea typeface="Calibri" pitchFamily="34" charset="-122"/>
                <a:cs typeface="Calibri" pitchFamily="34" charset="-120"/>
              </a:rPr>
              <a:t>The regulator's question is never 'did you find it'. It is 'show me what you knew, and when'.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WHAT THAT COSTS — FROM THE LIVE CORPUS</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One contractor. Two files. Nobody joined them.</a:t>
            </a:r>
            <a:endParaRPr lang="en-US" sz="3600" dirty="0"/>
          </a:p>
        </p:txBody>
      </p:sp>
      <p:sp>
        <p:nvSpPr>
          <p:cNvPr id="4" name="Shape 2"/>
          <p:cNvSpPr/>
          <p:nvPr/>
        </p:nvSpPr>
        <p:spPr>
          <a:xfrm>
            <a:off x="640080" y="1783080"/>
            <a:ext cx="5349240" cy="3291840"/>
          </a:xfrm>
          <a:prstGeom prst="roundRect">
            <a:avLst>
              <a:gd name="adj" fmla="val 1667"/>
            </a:avLst>
          </a:prstGeom>
          <a:solidFill>
            <a:srgbClr val="152743"/>
          </a:solidFill>
          <a:ln w="9525">
            <a:solidFill>
              <a:srgbClr val="1D3453"/>
            </a:solidFill>
            <a:prstDash val="solid"/>
          </a:ln>
        </p:spPr>
      </p:sp>
      <p:sp>
        <p:nvSpPr>
          <p:cNvPr id="5" name="Text 3"/>
          <p:cNvSpPr txBox="1"/>
          <p:nvPr/>
        </p:nvSpPr>
        <p:spPr>
          <a:xfrm>
            <a:off x="914400" y="2011680"/>
            <a:ext cx="4754880" cy="256032"/>
          </a:xfrm>
          <a:prstGeom prst="rect">
            <a:avLst/>
          </a:prstGeom>
          <a:noFill/>
          <a:ln/>
        </p:spPr>
        <p:txBody>
          <a:bodyPr wrap="square" lIns="0" tIns="0" rIns="0" bIns="0" rtlCol="0" anchor="ctr"/>
          <a:lstStyle/>
          <a:p>
            <a:pPr indent="0" marL="0">
              <a:buNone/>
            </a:pPr>
            <a:r>
              <a:rPr lang="en-US" sz="1000" spc="160" kern="0" dirty="0">
                <a:solidFill>
                  <a:srgbClr val="00D4E6"/>
                </a:solidFill>
                <a:latin typeface="Courier New" pitchFamily="34" charset="0"/>
                <a:ea typeface="Courier New" pitchFamily="34" charset="-122"/>
                <a:cs typeface="Courier New" pitchFamily="34" charset="-120"/>
              </a:rPr>
              <a:t>FILE A  ·  ASSET_INVENTORY</a:t>
            </a:r>
            <a:endParaRPr lang="en-US" sz="1000" dirty="0"/>
          </a:p>
        </p:txBody>
      </p:sp>
      <p:sp>
        <p:nvSpPr>
          <p:cNvPr id="6" name="Text 4"/>
          <p:cNvSpPr txBox="1"/>
          <p:nvPr/>
        </p:nvSpPr>
        <p:spPr>
          <a:xfrm>
            <a:off x="914400" y="2359152"/>
            <a:ext cx="4754880" cy="329184"/>
          </a:xfrm>
          <a:prstGeom prst="rect">
            <a:avLst/>
          </a:prstGeom>
          <a:noFill/>
          <a:ln/>
        </p:spPr>
        <p:txBody>
          <a:bodyPr wrap="square" lIns="0" tIns="0" rIns="0" bIns="0" rtlCol="0" anchor="ctr"/>
          <a:lstStyle/>
          <a:p>
            <a:pPr indent="0" marL="0">
              <a:buNone/>
            </a:pPr>
            <a:r>
              <a:rPr lang="en-US" sz="2000" b="1" dirty="0">
                <a:solidFill>
                  <a:srgbClr val="F2F5FA"/>
                </a:solidFill>
                <a:latin typeface="Cambria" pitchFamily="34" charset="0"/>
                <a:ea typeface="Cambria" pitchFamily="34" charset="-122"/>
                <a:cs typeface="Cambria" pitchFamily="34" charset="-120"/>
              </a:rPr>
              <a:t>Laptop SN-100240</a:t>
            </a:r>
            <a:endParaRPr lang="en-US" sz="2000" dirty="0"/>
          </a:p>
        </p:txBody>
      </p:sp>
      <p:sp>
        <p:nvSpPr>
          <p:cNvPr id="7" name="Text 5"/>
          <p:cNvSpPr txBox="1"/>
          <p:nvPr/>
        </p:nvSpPr>
        <p:spPr>
          <a:xfrm>
            <a:off x="914400" y="2834640"/>
            <a:ext cx="4754880" cy="1737360"/>
          </a:xfrm>
          <a:prstGeom prst="rect">
            <a:avLst/>
          </a:prstGeom>
          <a:noFill/>
          <a:ln/>
        </p:spPr>
        <p:txBody>
          <a:bodyPr wrap="square" lIns="0" tIns="0" rIns="0" bIns="0" rtlCol="0" anchor="ctr"/>
          <a:lstStyle/>
          <a:p>
            <a:pPr indent="0" marL="0">
              <a:lnSpc>
                <a:spcPts val="2100"/>
              </a:lnSpc>
              <a:buNone/>
            </a:pPr>
            <a:r>
              <a:rPr lang="en-US" sz="1300" dirty="0">
                <a:solidFill>
                  <a:srgbClr val="8FA0BA"/>
                </a:solidFill>
                <a:latin typeface="Calibri" pitchFamily="34" charset="0"/>
                <a:ea typeface="Calibri" pitchFamily="34" charset="-122"/>
                <a:cs typeface="Calibri" pitchFamily="34" charset="-120"/>
              </a:rPr>
              <a:t>Assigned to  </a:t>
            </a:r>
            <a:pPr indent="0" marL="0">
              <a:lnSpc>
                <a:spcPts val="2100"/>
              </a:lnSpc>
              <a:buNone/>
            </a:pPr>
            <a:r>
              <a:rPr lang="en-US" sz="1300" dirty="0">
                <a:solidFill>
                  <a:srgbClr val="F2F5FA"/>
                </a:solidFill>
                <a:latin typeface="Calibri" pitchFamily="34" charset="0"/>
                <a:ea typeface="Calibri" pitchFamily="34" charset="-122"/>
                <a:cs typeface="Calibri" pitchFamily="34" charset="-120"/>
              </a:rPr>
              <a:t>m.delgado (contractor)
</a:t>
            </a:r>
            <a:pPr indent="0" marL="0">
              <a:lnSpc>
                <a:spcPts val="2100"/>
              </a:lnSpc>
              <a:buNone/>
            </a:pPr>
            <a:r>
              <a:rPr lang="en-US" sz="1300" dirty="0">
                <a:solidFill>
                  <a:srgbClr val="8FA0BA"/>
                </a:solidFill>
                <a:latin typeface="Calibri" pitchFamily="34" charset="0"/>
                <a:ea typeface="Calibri" pitchFamily="34" charset="-122"/>
                <a:cs typeface="Calibri" pitchFamily="34" charset="-120"/>
              </a:rPr>
              <a:t>Status  </a:t>
            </a:r>
            <a:pPr indent="0" marL="0">
              <a:lnSpc>
                <a:spcPts val="2100"/>
              </a:lnSpc>
              <a:buNone/>
            </a:pPr>
            <a:r>
              <a:rPr lang="en-US" sz="1300" dirty="0">
                <a:solidFill>
                  <a:srgbClr val="F2F5FA"/>
                </a:solidFill>
                <a:latin typeface="Calibri" pitchFamily="34" charset="0"/>
                <a:ea typeface="Calibri" pitchFamily="34" charset="-122"/>
                <a:cs typeface="Calibri" pitchFamily="34" charset="-120"/>
              </a:rPr>
              <a:t>Retired
</a:t>
            </a:r>
            <a:pPr indent="0" marL="0">
              <a:lnSpc>
                <a:spcPts val="2100"/>
              </a:lnSpc>
              <a:buNone/>
            </a:pPr>
            <a:r>
              <a:rPr lang="en-US" sz="1300" dirty="0">
                <a:solidFill>
                  <a:srgbClr val="8FA0BA"/>
                </a:solidFill>
                <a:latin typeface="Calibri" pitchFamily="34" charset="0"/>
                <a:ea typeface="Calibri" pitchFamily="34" charset="-122"/>
                <a:cs typeface="Calibri" pitchFamily="34" charset="-120"/>
              </a:rPr>
              <a:t>Disposal  </a:t>
            </a:r>
            <a:pPr indent="0" marL="0">
              <a:lnSpc>
                <a:spcPts val="2100"/>
              </a:lnSpc>
              <a:buNone/>
            </a:pPr>
            <a:r>
              <a:rPr lang="en-US" sz="1300" dirty="0">
                <a:solidFill>
                  <a:srgbClr val="F2F5FA"/>
                </a:solidFill>
                <a:latin typeface="Calibri" pitchFamily="34" charset="0"/>
                <a:ea typeface="Calibri" pitchFamily="34" charset="-122"/>
                <a:cs typeface="Calibri" pitchFamily="34" charset="-120"/>
              </a:rPr>
              <a:t>30 Aug 2026
</a:t>
            </a:r>
            <a:pPr indent="0" marL="0">
              <a:lnSpc>
                <a:spcPts val="2100"/>
              </a:lnSpc>
              <a:buNone/>
            </a:pPr>
            <a:r>
              <a:rPr lang="en-US" sz="1300" dirty="0">
                <a:solidFill>
                  <a:srgbClr val="8FA0BA"/>
                </a:solidFill>
                <a:latin typeface="Calibri" pitchFamily="34" charset="0"/>
                <a:ea typeface="Calibri" pitchFamily="34" charset="-122"/>
                <a:cs typeface="Calibri" pitchFamily="34" charset="-120"/>
              </a:rPr>
              <a:t>Note  </a:t>
            </a:r>
            <a:pPr indent="0" marL="0">
              <a:lnSpc>
                <a:spcPts val="2100"/>
              </a:lnSpc>
              <a:buNone/>
            </a:pPr>
            <a:r>
              <a:rPr lang="en-US" sz="1300" dirty="0">
                <a:solidFill>
                  <a:srgbClr val="F2F5FA"/>
                </a:solidFill>
                <a:latin typeface="Calibri" pitchFamily="34" charset="0"/>
                <a:ea typeface="Calibri" pitchFamily="34" charset="-122"/>
                <a:cs typeface="Calibri" pitchFamily="34" charset="-120"/>
              </a:rPr>
              <a:t>Wiped and decommissioned</a:t>
            </a:r>
            <a:endParaRPr lang="en-US" sz="1300" dirty="0"/>
          </a:p>
          <a:p>
            <a:pPr indent="0" marL="0">
              <a:lnSpc>
                <a:spcPts val="2100"/>
              </a:lnSpc>
              <a:buNone/>
            </a:pPr>
            <a:r>
              <a:rPr lang="en-US" sz="1300" dirty="0">
                <a:solidFill>
                  <a:srgbClr val="F2F5FA"/>
                </a:solidFill>
                <a:latin typeface="Calibri" pitchFamily="34" charset="0"/>
                <a:ea typeface="Calibri" pitchFamily="34" charset="-122"/>
                <a:cs typeface="Calibri" pitchFamily="34" charset="-120"/>
              </a:rPr>
              <a:t>per offboarding checklist</a:t>
            </a:r>
            <a:endParaRPr lang="en-US" sz="1300" dirty="0"/>
          </a:p>
        </p:txBody>
      </p:sp>
      <p:sp>
        <p:nvSpPr>
          <p:cNvPr id="8" name="Text 6"/>
          <p:cNvSpPr txBox="1"/>
          <p:nvPr/>
        </p:nvSpPr>
        <p:spPr>
          <a:xfrm>
            <a:off x="914400" y="4590288"/>
            <a:ext cx="2194560" cy="274320"/>
          </a:xfrm>
          <a:prstGeom prst="rect">
            <a:avLst/>
          </a:prstGeom>
          <a:noFill/>
          <a:ln/>
        </p:spPr>
        <p:txBody>
          <a:bodyPr wrap="square" lIns="0" tIns="0" rIns="0" bIns="0" rtlCol="0" anchor="ctr"/>
          <a:lstStyle/>
          <a:p>
            <a:pPr indent="0" marL="0">
              <a:buNone/>
            </a:pPr>
            <a:r>
              <a:rPr lang="en-US" sz="1100" b="1" spc="160" kern="0" dirty="0">
                <a:solidFill>
                  <a:srgbClr val="5BC98B"/>
                </a:solidFill>
                <a:latin typeface="Courier New" pitchFamily="34" charset="0"/>
                <a:ea typeface="Courier New" pitchFamily="34" charset="-122"/>
                <a:cs typeface="Courier New" pitchFamily="34" charset="-120"/>
              </a:rPr>
              <a:t>OFFBOARDED</a:t>
            </a:r>
            <a:endParaRPr lang="en-US" sz="1100" dirty="0"/>
          </a:p>
        </p:txBody>
      </p:sp>
      <p:sp>
        <p:nvSpPr>
          <p:cNvPr id="9" name="Shape 7"/>
          <p:cNvSpPr/>
          <p:nvPr/>
        </p:nvSpPr>
        <p:spPr>
          <a:xfrm>
            <a:off x="6172200" y="1783080"/>
            <a:ext cx="5349240" cy="3291840"/>
          </a:xfrm>
          <a:prstGeom prst="roundRect">
            <a:avLst>
              <a:gd name="adj" fmla="val 1667"/>
            </a:avLst>
          </a:prstGeom>
          <a:solidFill>
            <a:srgbClr val="152743"/>
          </a:solidFill>
          <a:ln w="9525">
            <a:solidFill>
              <a:srgbClr val="1D3453"/>
            </a:solidFill>
            <a:prstDash val="solid"/>
          </a:ln>
        </p:spPr>
      </p:sp>
      <p:sp>
        <p:nvSpPr>
          <p:cNvPr id="10" name="Text 8"/>
          <p:cNvSpPr txBox="1"/>
          <p:nvPr/>
        </p:nvSpPr>
        <p:spPr>
          <a:xfrm>
            <a:off x="6446520" y="2011680"/>
            <a:ext cx="4754880" cy="256032"/>
          </a:xfrm>
          <a:prstGeom prst="rect">
            <a:avLst/>
          </a:prstGeom>
          <a:noFill/>
          <a:ln/>
        </p:spPr>
        <p:txBody>
          <a:bodyPr wrap="square" lIns="0" tIns="0" rIns="0" bIns="0" rtlCol="0" anchor="ctr"/>
          <a:lstStyle/>
          <a:p>
            <a:pPr indent="0" marL="0">
              <a:buNone/>
            </a:pPr>
            <a:r>
              <a:rPr lang="en-US" sz="1000" spc="160" kern="0" dirty="0">
                <a:solidFill>
                  <a:srgbClr val="C6A24B"/>
                </a:solidFill>
                <a:latin typeface="Courier New" pitchFamily="34" charset="0"/>
                <a:ea typeface="Courier New" pitchFamily="34" charset="-122"/>
                <a:cs typeface="Courier New" pitchFamily="34" charset="-120"/>
              </a:rPr>
              <a:t>FILE B  ·  ACCESS_REVIEW_RECORDS</a:t>
            </a:r>
            <a:endParaRPr lang="en-US" sz="1000" dirty="0"/>
          </a:p>
        </p:txBody>
      </p:sp>
      <p:sp>
        <p:nvSpPr>
          <p:cNvPr id="11" name="Text 9"/>
          <p:cNvSpPr txBox="1"/>
          <p:nvPr/>
        </p:nvSpPr>
        <p:spPr>
          <a:xfrm>
            <a:off x="6446520" y="2359152"/>
            <a:ext cx="4754880" cy="329184"/>
          </a:xfrm>
          <a:prstGeom prst="rect">
            <a:avLst/>
          </a:prstGeom>
          <a:noFill/>
          <a:ln/>
        </p:spPr>
        <p:txBody>
          <a:bodyPr wrap="square" lIns="0" tIns="0" rIns="0" bIns="0" rtlCol="0" anchor="ctr"/>
          <a:lstStyle/>
          <a:p>
            <a:pPr indent="0" marL="0">
              <a:buNone/>
            </a:pPr>
            <a:r>
              <a:rPr lang="en-US" sz="2000" b="1" dirty="0">
                <a:solidFill>
                  <a:srgbClr val="F2F5FA"/>
                </a:solidFill>
                <a:latin typeface="Cambria" pitchFamily="34" charset="0"/>
                <a:ea typeface="Cambria" pitchFamily="34" charset="-122"/>
                <a:cs typeface="Cambria" pitchFamily="34" charset="-120"/>
              </a:rPr>
              <a:t>AWS Production Console</a:t>
            </a:r>
            <a:endParaRPr lang="en-US" sz="2000" dirty="0"/>
          </a:p>
        </p:txBody>
      </p:sp>
      <p:sp>
        <p:nvSpPr>
          <p:cNvPr id="12" name="Text 10"/>
          <p:cNvSpPr txBox="1"/>
          <p:nvPr/>
        </p:nvSpPr>
        <p:spPr>
          <a:xfrm>
            <a:off x="6446520" y="2834640"/>
            <a:ext cx="4754880" cy="1737360"/>
          </a:xfrm>
          <a:prstGeom prst="rect">
            <a:avLst/>
          </a:prstGeom>
          <a:noFill/>
          <a:ln/>
        </p:spPr>
        <p:txBody>
          <a:bodyPr wrap="square" lIns="0" tIns="0" rIns="0" bIns="0" rtlCol="0" anchor="ctr"/>
          <a:lstStyle/>
          <a:p>
            <a:pPr indent="0" marL="0">
              <a:lnSpc>
                <a:spcPts val="2100"/>
              </a:lnSpc>
              <a:buNone/>
            </a:pPr>
            <a:r>
              <a:rPr lang="en-US" sz="1300" dirty="0">
                <a:solidFill>
                  <a:srgbClr val="8FA0BA"/>
                </a:solidFill>
                <a:latin typeface="Calibri" pitchFamily="34" charset="0"/>
                <a:ea typeface="Calibri" pitchFamily="34" charset="-122"/>
                <a:cs typeface="Calibri" pitchFamily="34" charset="-120"/>
              </a:rPr>
              <a:t>User  </a:t>
            </a:r>
            <a:pPr indent="0" marL="0">
              <a:lnSpc>
                <a:spcPts val="2100"/>
              </a:lnSpc>
              <a:buNone/>
            </a:pPr>
            <a:r>
              <a:rPr lang="en-US" sz="1300" dirty="0">
                <a:solidFill>
                  <a:srgbClr val="F2F5FA"/>
                </a:solidFill>
                <a:latin typeface="Calibri" pitchFamily="34" charset="0"/>
                <a:ea typeface="Calibri" pitchFamily="34" charset="-122"/>
                <a:cs typeface="Calibri" pitchFamily="34" charset="-120"/>
              </a:rPr>
              <a:t>M. Delgado, Contractor – IT Support
</a:t>
            </a:r>
            <a:pPr indent="0" marL="0">
              <a:lnSpc>
                <a:spcPts val="2100"/>
              </a:lnSpc>
              <a:buNone/>
            </a:pPr>
            <a:r>
              <a:rPr lang="en-US" sz="1300" dirty="0">
                <a:solidFill>
                  <a:srgbClr val="8FA0BA"/>
                </a:solidFill>
                <a:latin typeface="Calibri" pitchFamily="34" charset="0"/>
                <a:ea typeface="Calibri" pitchFamily="34" charset="-122"/>
                <a:cs typeface="Calibri" pitchFamily="34" charset="-120"/>
              </a:rPr>
              <a:t>Role  </a:t>
            </a:r>
            <a:pPr indent="0" marL="0">
              <a:lnSpc>
                <a:spcPts val="2100"/>
              </a:lnSpc>
              <a:buNone/>
            </a:pPr>
            <a:r>
              <a:rPr lang="en-US" sz="1300" dirty="0">
                <a:solidFill>
                  <a:srgbClr val="F2F5FA"/>
                </a:solidFill>
                <a:latin typeface="Calibri" pitchFamily="34" charset="0"/>
                <a:ea typeface="Calibri" pitchFamily="34" charset="-122"/>
                <a:cs typeface="Calibri" pitchFamily="34" charset="-120"/>
              </a:rPr>
              <a:t>Admin
</a:t>
            </a:r>
            <a:pPr indent="0" marL="0">
              <a:lnSpc>
                <a:spcPts val="2100"/>
              </a:lnSpc>
              <a:buNone/>
            </a:pPr>
            <a:r>
              <a:rPr lang="en-US" sz="1300" dirty="0">
                <a:solidFill>
                  <a:srgbClr val="8FA0BA"/>
                </a:solidFill>
                <a:latin typeface="Calibri" pitchFamily="34" charset="0"/>
                <a:ea typeface="Calibri" pitchFamily="34" charset="-122"/>
                <a:cs typeface="Calibri" pitchFamily="34" charset="-120"/>
              </a:rPr>
              <a:t>Last login  </a:t>
            </a:r>
            <a:pPr indent="0" marL="0">
              <a:lnSpc>
                <a:spcPts val="2100"/>
              </a:lnSpc>
              <a:buNone/>
            </a:pPr>
            <a:r>
              <a:rPr lang="en-US" sz="1300" dirty="0">
                <a:solidFill>
                  <a:srgbClr val="F2F5FA"/>
                </a:solidFill>
                <a:latin typeface="Calibri" pitchFamily="34" charset="0"/>
                <a:ea typeface="Calibri" pitchFamily="34" charset="-122"/>
                <a:cs typeface="Calibri" pitchFamily="34" charset="-120"/>
              </a:rPr>
              <a:t>22 Mar 2026 — 166 days idle
</a:t>
            </a:r>
            <a:pPr indent="0" marL="0">
              <a:lnSpc>
                <a:spcPts val="2100"/>
              </a:lnSpc>
              <a:buNone/>
            </a:pPr>
            <a:r>
              <a:rPr lang="en-US" sz="1300" dirty="0">
                <a:solidFill>
                  <a:srgbClr val="8FA0BA"/>
                </a:solidFill>
                <a:latin typeface="Calibri" pitchFamily="34" charset="0"/>
                <a:ea typeface="Calibri" pitchFamily="34" charset="-122"/>
                <a:cs typeface="Calibri" pitchFamily="34" charset="-120"/>
              </a:rPr>
              <a:t>Justified  </a:t>
            </a:r>
            <a:pPr indent="0" marL="0">
              <a:lnSpc>
                <a:spcPts val="2100"/>
              </a:lnSpc>
              <a:buNone/>
            </a:pPr>
            <a:r>
              <a:rPr lang="en-US" sz="1300" b="1" dirty="0">
                <a:solidFill>
                  <a:srgbClr val="E5484D"/>
                </a:solidFill>
                <a:latin typeface="Calibri" pitchFamily="34" charset="0"/>
                <a:ea typeface="Calibri" pitchFamily="34" charset="-122"/>
                <a:cs typeface="Calibri" pitchFamily="34" charset="-120"/>
              </a:rPr>
              <a:t>N   ·   Action: Revoke access</a:t>
            </a:r>
            <a:endParaRPr lang="en-US" sz="1300" dirty="0"/>
          </a:p>
        </p:txBody>
      </p:sp>
      <p:sp>
        <p:nvSpPr>
          <p:cNvPr id="13" name="Text 11"/>
          <p:cNvSpPr txBox="1"/>
          <p:nvPr/>
        </p:nvSpPr>
        <p:spPr>
          <a:xfrm>
            <a:off x="6446520" y="4590288"/>
            <a:ext cx="4206240" cy="274320"/>
          </a:xfrm>
          <a:prstGeom prst="rect">
            <a:avLst/>
          </a:prstGeom>
          <a:noFill/>
          <a:ln/>
        </p:spPr>
        <p:txBody>
          <a:bodyPr wrap="square" lIns="0" tIns="0" rIns="0" bIns="0" rtlCol="0" anchor="ctr"/>
          <a:lstStyle/>
          <a:p>
            <a:pPr indent="0" marL="0">
              <a:buNone/>
            </a:pPr>
            <a:r>
              <a:rPr lang="en-US" sz="1100" b="1" spc="160" kern="0" dirty="0">
                <a:solidFill>
                  <a:srgbClr val="E5484D"/>
                </a:solidFill>
                <a:latin typeface="Courier New" pitchFamily="34" charset="0"/>
                <a:ea typeface="Courier New" pitchFamily="34" charset="-122"/>
                <a:cs typeface="Courier New" pitchFamily="34" charset="-120"/>
              </a:rPr>
              <a:t>STILL ADMIN ON PRODUCTION</a:t>
            </a:r>
            <a:endParaRPr lang="en-US" sz="1100" dirty="0"/>
          </a:p>
        </p:txBody>
      </p:sp>
      <p:sp>
        <p:nvSpPr>
          <p:cNvPr id="14" name="Text 12"/>
          <p:cNvSpPr txBox="1"/>
          <p:nvPr/>
        </p:nvSpPr>
        <p:spPr>
          <a:xfrm>
            <a:off x="640080" y="5349240"/>
            <a:ext cx="10881360" cy="640080"/>
          </a:xfrm>
          <a:prstGeom prst="rect">
            <a:avLst/>
          </a:prstGeom>
          <a:noFill/>
          <a:ln/>
        </p:spPr>
        <p:txBody>
          <a:bodyPr wrap="square" lIns="0" tIns="0" rIns="0" bIns="0" rtlCol="0" anchor="ctr"/>
          <a:lstStyle/>
          <a:p>
            <a:pPr indent="0" marL="0">
              <a:lnSpc>
                <a:spcPts val="2300"/>
              </a:lnSpc>
              <a:buNone/>
            </a:pPr>
            <a:r>
              <a:rPr lang="en-US" sz="1600" i="1" dirty="0">
                <a:solidFill>
                  <a:srgbClr val="C6A24B"/>
                </a:solidFill>
                <a:latin typeface="Cambria" pitchFamily="34" charset="0"/>
                <a:ea typeface="Cambria" pitchFamily="34" charset="-122"/>
                <a:cs typeface="Cambria" pitchFamily="34" charset="-120"/>
              </a:rPr>
              <a:t>The laptop came back. The production keys did not. Both facts were already written down — in two different spreadsheets, reviewed by two different processes.</a:t>
            </a:r>
            <a:endParaRPr lang="en-US" sz="1600" dirty="0"/>
          </a:p>
        </p:txBody>
      </p:sp>
      <p:sp>
        <p:nvSpPr>
          <p:cNvPr id="15" name="Text 13"/>
          <p:cNvSpPr txBox="1"/>
          <p:nvPr/>
        </p:nvSpPr>
        <p:spPr>
          <a:xfrm>
            <a:off x="640080" y="6327648"/>
            <a:ext cx="10881360" cy="274320"/>
          </a:xfrm>
          <a:prstGeom prst="rect">
            <a:avLst/>
          </a:prstGeom>
          <a:noFill/>
          <a:ln/>
        </p:spPr>
        <p:txBody>
          <a:bodyPr wrap="square" lIns="0" tIns="0" rIns="0" bIns="0" rtlCol="0" anchor="ctr"/>
          <a:lstStyle/>
          <a:p>
            <a:pPr indent="0" marL="0">
              <a:buNone/>
            </a:pPr>
            <a:r>
              <a:rPr lang="en-US" sz="850" spc="120" kern="0" dirty="0">
                <a:solidFill>
                  <a:srgbClr val="6B7A94"/>
                </a:solidFill>
                <a:latin typeface="Courier New" pitchFamily="34" charset="0"/>
                <a:ea typeface="Courier New" pitchFamily="34" charset="-122"/>
                <a:cs typeface="Courier New" pitchFamily="34" charset="-120"/>
              </a:rPr>
              <a:t>SOURCE · ASSET_INVENTORY_REGODIT.XLSX AND ACCESS_REVIEW_RECORDS.XLSX, AS REVIEWED 04 SEP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WHY THIS IS HARD TO DO WITH AI</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A confident wrong answer is worse than no answer</a:t>
            </a:r>
            <a:endParaRPr lang="en-US" sz="3600" dirty="0"/>
          </a:p>
        </p:txBody>
      </p:sp>
      <p:sp>
        <p:nvSpPr>
          <p:cNvPr id="4" name="Text 2"/>
          <p:cNvSpPr txBox="1"/>
          <p:nvPr/>
        </p:nvSpPr>
        <p:spPr>
          <a:xfrm>
            <a:off x="640080" y="1572768"/>
            <a:ext cx="10881360" cy="685800"/>
          </a:xfrm>
          <a:prstGeom prst="rect">
            <a:avLst/>
          </a:prstGeom>
          <a:noFill/>
          <a:ln/>
        </p:spPr>
        <p:txBody>
          <a:bodyPr wrap="square" lIns="0" tIns="0" rIns="0" bIns="0" rtlCol="0" anchor="ctr"/>
          <a:lstStyle/>
          <a:p>
            <a:pPr indent="0" marL="0">
              <a:lnSpc>
                <a:spcPts val="2200"/>
              </a:lnSpc>
              <a:buNone/>
            </a:pPr>
            <a:r>
              <a:rPr lang="en-US" sz="1500" dirty="0">
                <a:solidFill>
                  <a:srgbClr val="8FA0BA"/>
                </a:solidFill>
                <a:latin typeface="Calibri" pitchFamily="34" charset="0"/>
                <a:ea typeface="Calibri" pitchFamily="34" charset="-122"/>
                <a:cs typeface="Calibri" pitchFamily="34" charset="-120"/>
              </a:rPr>
              <a:t>Compliance output gets acted on and defended later. A model that invents a date, a count or a policy citation does not produce an inconvenience — it produces a wrong revocation, a missed exposure, and a record that falls apart under examination.</a:t>
            </a:r>
            <a:endParaRPr lang="en-US" sz="1500" dirty="0"/>
          </a:p>
        </p:txBody>
      </p:sp>
      <p:sp>
        <p:nvSpPr>
          <p:cNvPr id="5" name="Shape 3"/>
          <p:cNvSpPr/>
          <p:nvPr/>
        </p:nvSpPr>
        <p:spPr>
          <a:xfrm>
            <a:off x="640080" y="2788920"/>
            <a:ext cx="5285232" cy="3063240"/>
          </a:xfrm>
          <a:prstGeom prst="roundRect">
            <a:avLst>
              <a:gd name="adj" fmla="val 1791"/>
            </a:avLst>
          </a:prstGeom>
          <a:solidFill>
            <a:srgbClr val="152743"/>
          </a:solidFill>
          <a:ln w="9525">
            <a:solidFill>
              <a:srgbClr val="1D3453"/>
            </a:solidFill>
            <a:prstDash val="solid"/>
          </a:ln>
        </p:spPr>
      </p:sp>
      <p:sp>
        <p:nvSpPr>
          <p:cNvPr id="6" name="Text 4"/>
          <p:cNvSpPr txBox="1"/>
          <p:nvPr/>
        </p:nvSpPr>
        <p:spPr>
          <a:xfrm>
            <a:off x="932688" y="2999232"/>
            <a:ext cx="4663440" cy="274320"/>
          </a:xfrm>
          <a:prstGeom prst="rect">
            <a:avLst/>
          </a:prstGeom>
          <a:noFill/>
          <a:ln/>
        </p:spPr>
        <p:txBody>
          <a:bodyPr wrap="square" lIns="0" tIns="0" rIns="0" bIns="0" rtlCol="0" anchor="ctr"/>
          <a:lstStyle/>
          <a:p>
            <a:pPr indent="0" marL="0">
              <a:buNone/>
            </a:pPr>
            <a:r>
              <a:rPr lang="en-US" sz="1050" b="1" spc="180" kern="0" dirty="0">
                <a:solidFill>
                  <a:srgbClr val="E5484D"/>
                </a:solidFill>
                <a:latin typeface="Courier New" pitchFamily="34" charset="0"/>
                <a:ea typeface="Courier New" pitchFamily="34" charset="-122"/>
                <a:cs typeface="Courier New" pitchFamily="34" charset="-120"/>
              </a:rPr>
              <a:t>TYPICAL AI COMPLIANCE TOOL</a:t>
            </a:r>
            <a:endParaRPr lang="en-US" sz="1050" dirty="0"/>
          </a:p>
        </p:txBody>
      </p:sp>
      <p:sp>
        <p:nvSpPr>
          <p:cNvPr id="7" name="Text 5"/>
          <p:cNvSpPr txBox="1"/>
          <p:nvPr/>
        </p:nvSpPr>
        <p:spPr>
          <a:xfrm>
            <a:off x="932688" y="3364992"/>
            <a:ext cx="4700016" cy="233172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Documents go into a model; answers come out</a:t>
            </a:r>
            <a:endParaRPr lang="en-US" sz="1300" dirty="0"/>
          </a:p>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Findings are generated prose, not rule output</a:t>
            </a:r>
            <a:endParaRPr lang="en-US" sz="1300" dirty="0"/>
          </a:p>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No stable link from claim back to source cell</a:t>
            </a:r>
            <a:endParaRPr lang="en-US" sz="1300" dirty="0"/>
          </a:p>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Re-running the same corpus gives a different answer</a:t>
            </a:r>
            <a:endParaRPr lang="en-US" sz="1300" dirty="0"/>
          </a:p>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Reviewer must verify everything, so saves nothing</a:t>
            </a:r>
            <a:endParaRPr lang="en-US" sz="1300" dirty="0"/>
          </a:p>
        </p:txBody>
      </p:sp>
      <p:sp>
        <p:nvSpPr>
          <p:cNvPr id="8" name="Shape 6"/>
          <p:cNvSpPr/>
          <p:nvPr/>
        </p:nvSpPr>
        <p:spPr>
          <a:xfrm>
            <a:off x="6236208" y="2788920"/>
            <a:ext cx="5285232" cy="3063240"/>
          </a:xfrm>
          <a:prstGeom prst="roundRect">
            <a:avLst>
              <a:gd name="adj" fmla="val 1791"/>
            </a:avLst>
          </a:prstGeom>
          <a:solidFill>
            <a:srgbClr val="13304F"/>
          </a:solidFill>
          <a:ln w="9525">
            <a:solidFill>
              <a:srgbClr val="1D3453"/>
            </a:solidFill>
            <a:prstDash val="solid"/>
          </a:ln>
        </p:spPr>
      </p:sp>
      <p:sp>
        <p:nvSpPr>
          <p:cNvPr id="9" name="Text 7"/>
          <p:cNvSpPr txBox="1"/>
          <p:nvPr/>
        </p:nvSpPr>
        <p:spPr>
          <a:xfrm>
            <a:off x="6528816" y="2999232"/>
            <a:ext cx="4663440" cy="274320"/>
          </a:xfrm>
          <a:prstGeom prst="rect">
            <a:avLst/>
          </a:prstGeom>
          <a:noFill/>
          <a:ln/>
        </p:spPr>
        <p:txBody>
          <a:bodyPr wrap="square" lIns="0" tIns="0" rIns="0" bIns="0" rtlCol="0" anchor="ctr"/>
          <a:lstStyle/>
          <a:p>
            <a:pPr indent="0" marL="0">
              <a:buNone/>
            </a:pPr>
            <a:r>
              <a:rPr lang="en-US" sz="1050" b="1" spc="180" kern="0" dirty="0">
                <a:solidFill>
                  <a:srgbClr val="00D4E6"/>
                </a:solidFill>
                <a:latin typeface="Courier New" pitchFamily="34" charset="0"/>
                <a:ea typeface="Courier New" pitchFamily="34" charset="-122"/>
                <a:cs typeface="Courier New" pitchFamily="34" charset="-120"/>
              </a:rPr>
              <a:t>COMPLIGUIDE</a:t>
            </a:r>
            <a:endParaRPr lang="en-US" sz="1050" dirty="0"/>
          </a:p>
        </p:txBody>
      </p:sp>
      <p:sp>
        <p:nvSpPr>
          <p:cNvPr id="10" name="Text 8"/>
          <p:cNvSpPr txBox="1"/>
          <p:nvPr/>
        </p:nvSpPr>
        <p:spPr>
          <a:xfrm>
            <a:off x="6528816" y="3364992"/>
            <a:ext cx="4700016" cy="233172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Fixed rules read specific cells in specific files</a:t>
            </a:r>
            <a:endParaRPr lang="en-US" sz="1300" dirty="0"/>
          </a:p>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Every finding carries its source file and severity</a:t>
            </a:r>
            <a:endParaRPr lang="en-US" sz="1300" dirty="0"/>
          </a:p>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Every recommendation cites the governing policy</a:t>
            </a:r>
            <a:endParaRPr lang="en-US" sz="1300" dirty="0"/>
          </a:p>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Deterministic — same corpus, same 13 findings</a:t>
            </a:r>
            <a:endParaRPr lang="en-US" sz="1300" dirty="0"/>
          </a:p>
          <a:p>
            <a:pPr marL="342900" indent="-342900">
              <a:lnSpc>
                <a:spcPts val="1700"/>
              </a:lnSpc>
              <a:spcAft>
                <a:spcPts val="900"/>
              </a:spcAft>
              <a:buSzPct val="100000"/>
              <a:buChar char="•"/>
            </a:pPr>
            <a:r>
              <a:rPr lang="en-US" sz="1300" dirty="0">
                <a:solidFill>
                  <a:srgbClr val="F2F5FA"/>
                </a:solidFill>
                <a:latin typeface="Calibri" pitchFamily="34" charset="0"/>
                <a:ea typeface="Calibri" pitchFamily="34" charset="-122"/>
                <a:cs typeface="Calibri" pitchFamily="34" charset="-120"/>
              </a:rPr>
              <a:t>The model narrates; it does not decide or compute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THE PRODUCT</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Four surfaces over one corpus</a:t>
            </a:r>
            <a:endParaRPr lang="en-US" sz="3600" dirty="0"/>
          </a:p>
        </p:txBody>
      </p:sp>
      <p:sp>
        <p:nvSpPr>
          <p:cNvPr id="4" name="Text 2"/>
          <p:cNvSpPr txBox="1"/>
          <p:nvPr/>
        </p:nvSpPr>
        <p:spPr>
          <a:xfrm>
            <a:off x="640080" y="1572768"/>
            <a:ext cx="10881360" cy="685800"/>
          </a:xfrm>
          <a:prstGeom prst="rect">
            <a:avLst/>
          </a:prstGeom>
          <a:noFill/>
          <a:ln/>
        </p:spPr>
        <p:txBody>
          <a:bodyPr wrap="square" lIns="0" tIns="0" rIns="0" bIns="0" rtlCol="0" anchor="ctr"/>
          <a:lstStyle/>
          <a:p>
            <a:pPr indent="0" marL="0">
              <a:lnSpc>
                <a:spcPts val="2200"/>
              </a:lnSpc>
              <a:buNone/>
            </a:pPr>
            <a:r>
              <a:rPr lang="en-US" sz="1500" dirty="0">
                <a:solidFill>
                  <a:srgbClr val="8FA0BA"/>
                </a:solidFill>
                <a:latin typeface="Calibri" pitchFamily="34" charset="0"/>
                <a:ea typeface="Calibri" pitchFamily="34" charset="-122"/>
                <a:cs typeface="Calibri" pitchFamily="34" charset="-120"/>
              </a:rPr>
              <a:t>Point it at the folder you already have — policies, access reviews, asset inventories, questionnaires, assessment reports — and it produces a reviewable record.</a:t>
            </a:r>
            <a:endParaRPr lang="en-US" sz="1500" dirty="0"/>
          </a:p>
        </p:txBody>
      </p:sp>
      <p:sp>
        <p:nvSpPr>
          <p:cNvPr id="5" name="Shape 3"/>
          <p:cNvSpPr/>
          <p:nvPr/>
        </p:nvSpPr>
        <p:spPr>
          <a:xfrm>
            <a:off x="640080" y="2697480"/>
            <a:ext cx="2587752" cy="3108960"/>
          </a:xfrm>
          <a:prstGeom prst="roundRect">
            <a:avLst>
              <a:gd name="adj" fmla="val 2120"/>
            </a:avLst>
          </a:prstGeom>
          <a:solidFill>
            <a:srgbClr val="152743"/>
          </a:solidFill>
          <a:ln w="9525">
            <a:solidFill>
              <a:srgbClr val="1D3453"/>
            </a:solidFill>
            <a:prstDash val="solid"/>
          </a:ln>
        </p:spPr>
      </p:sp>
      <p:sp>
        <p:nvSpPr>
          <p:cNvPr id="6" name="Text 4"/>
          <p:cNvSpPr txBox="1"/>
          <p:nvPr/>
        </p:nvSpPr>
        <p:spPr>
          <a:xfrm>
            <a:off x="914400" y="2944368"/>
            <a:ext cx="1097280" cy="256032"/>
          </a:xfrm>
          <a:prstGeom prst="rect">
            <a:avLst/>
          </a:prstGeom>
          <a:noFill/>
          <a:ln/>
        </p:spPr>
        <p:txBody>
          <a:bodyPr wrap="square" lIns="0" tIns="0" rIns="0" bIns="0" rtlCol="0" anchor="ctr"/>
          <a:lstStyle/>
          <a:p>
            <a:pPr indent="0" marL="0">
              <a:buNone/>
            </a:pPr>
            <a:r>
              <a:rPr lang="en-US" sz="1100" spc="150" kern="0" dirty="0">
                <a:solidFill>
                  <a:srgbClr val="C6A24B"/>
                </a:solidFill>
                <a:latin typeface="Courier New" pitchFamily="34" charset="0"/>
                <a:ea typeface="Courier New" pitchFamily="34" charset="-122"/>
                <a:cs typeface="Courier New" pitchFamily="34" charset="-120"/>
              </a:rPr>
              <a:t>01</a:t>
            </a:r>
            <a:endParaRPr lang="en-US" sz="1100" dirty="0"/>
          </a:p>
        </p:txBody>
      </p:sp>
      <p:sp>
        <p:nvSpPr>
          <p:cNvPr id="7" name="Text 5"/>
          <p:cNvSpPr txBox="1"/>
          <p:nvPr/>
        </p:nvSpPr>
        <p:spPr>
          <a:xfrm>
            <a:off x="914400" y="3255264"/>
            <a:ext cx="2103120" cy="566928"/>
          </a:xfrm>
          <a:prstGeom prst="rect">
            <a:avLst/>
          </a:prstGeom>
          <a:noFill/>
          <a:ln/>
        </p:spPr>
        <p:txBody>
          <a:bodyPr wrap="square" lIns="0" tIns="0" rIns="0" bIns="0" rtlCol="0" anchor="ctr"/>
          <a:lstStyle/>
          <a:p>
            <a:pPr indent="0" marL="0">
              <a:lnSpc>
                <a:spcPts val="1900"/>
              </a:lnSpc>
              <a:buNone/>
            </a:pPr>
            <a:r>
              <a:rPr lang="en-US" sz="1500" b="1" dirty="0">
                <a:solidFill>
                  <a:srgbClr val="F2F5FA"/>
                </a:solidFill>
                <a:latin typeface="Cambria" pitchFamily="34" charset="0"/>
                <a:ea typeface="Cambria" pitchFamily="34" charset="-122"/>
                <a:cs typeface="Cambria" pitchFamily="34" charset="-120"/>
              </a:rPr>
              <a:t>RISK QUEUE</a:t>
            </a:r>
            <a:endParaRPr lang="en-US" sz="1500" dirty="0"/>
          </a:p>
        </p:txBody>
      </p:sp>
      <p:sp>
        <p:nvSpPr>
          <p:cNvPr id="8" name="Text 6"/>
          <p:cNvSpPr txBox="1"/>
          <p:nvPr/>
        </p:nvSpPr>
        <p:spPr>
          <a:xfrm>
            <a:off x="914400" y="3895344"/>
            <a:ext cx="2121408" cy="1691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Findings from access and asset records, ranked by severity, each showing the file it was read from.</a:t>
            </a:r>
            <a:endParaRPr lang="en-US" sz="1150" dirty="0"/>
          </a:p>
        </p:txBody>
      </p:sp>
      <p:sp>
        <p:nvSpPr>
          <p:cNvPr id="9" name="Shape 7"/>
          <p:cNvSpPr/>
          <p:nvPr/>
        </p:nvSpPr>
        <p:spPr>
          <a:xfrm>
            <a:off x="3438144" y="2697480"/>
            <a:ext cx="2587752" cy="3108960"/>
          </a:xfrm>
          <a:prstGeom prst="roundRect">
            <a:avLst>
              <a:gd name="adj" fmla="val 2120"/>
            </a:avLst>
          </a:prstGeom>
          <a:solidFill>
            <a:srgbClr val="152743"/>
          </a:solidFill>
          <a:ln w="9525">
            <a:solidFill>
              <a:srgbClr val="1D3453"/>
            </a:solidFill>
            <a:prstDash val="solid"/>
          </a:ln>
        </p:spPr>
      </p:sp>
      <p:sp>
        <p:nvSpPr>
          <p:cNvPr id="10" name="Text 8"/>
          <p:cNvSpPr txBox="1"/>
          <p:nvPr/>
        </p:nvSpPr>
        <p:spPr>
          <a:xfrm>
            <a:off x="3712464" y="2944368"/>
            <a:ext cx="1097280" cy="256032"/>
          </a:xfrm>
          <a:prstGeom prst="rect">
            <a:avLst/>
          </a:prstGeom>
          <a:noFill/>
          <a:ln/>
        </p:spPr>
        <p:txBody>
          <a:bodyPr wrap="square" lIns="0" tIns="0" rIns="0" bIns="0" rtlCol="0" anchor="ctr"/>
          <a:lstStyle/>
          <a:p>
            <a:pPr indent="0" marL="0">
              <a:buNone/>
            </a:pPr>
            <a:r>
              <a:rPr lang="en-US" sz="1100" spc="150" kern="0" dirty="0">
                <a:solidFill>
                  <a:srgbClr val="C6A24B"/>
                </a:solidFill>
                <a:latin typeface="Courier New" pitchFamily="34" charset="0"/>
                <a:ea typeface="Courier New" pitchFamily="34" charset="-122"/>
                <a:cs typeface="Courier New" pitchFamily="34" charset="-120"/>
              </a:rPr>
              <a:t>02</a:t>
            </a:r>
            <a:endParaRPr lang="en-US" sz="1100" dirty="0"/>
          </a:p>
        </p:txBody>
      </p:sp>
      <p:sp>
        <p:nvSpPr>
          <p:cNvPr id="11" name="Text 9"/>
          <p:cNvSpPr txBox="1"/>
          <p:nvPr/>
        </p:nvSpPr>
        <p:spPr>
          <a:xfrm>
            <a:off x="3712464" y="3255264"/>
            <a:ext cx="2103120" cy="566928"/>
          </a:xfrm>
          <a:prstGeom prst="rect">
            <a:avLst/>
          </a:prstGeom>
          <a:noFill/>
          <a:ln/>
        </p:spPr>
        <p:txBody>
          <a:bodyPr wrap="square" lIns="0" tIns="0" rIns="0" bIns="0" rtlCol="0" anchor="ctr"/>
          <a:lstStyle/>
          <a:p>
            <a:pPr indent="0" marL="0">
              <a:lnSpc>
                <a:spcPts val="1900"/>
              </a:lnSpc>
              <a:buNone/>
            </a:pPr>
            <a:r>
              <a:rPr lang="en-US" sz="1500" b="1" dirty="0">
                <a:solidFill>
                  <a:srgbClr val="F2F5FA"/>
                </a:solidFill>
                <a:latin typeface="Cambria" pitchFamily="34" charset="0"/>
                <a:ea typeface="Cambria" pitchFamily="34" charset="-122"/>
                <a:cs typeface="Cambria" pitchFamily="34" charset="-120"/>
              </a:rPr>
              <a:t>QUESTIONNAIRE COVERAGE</a:t>
            </a:r>
            <a:endParaRPr lang="en-US" sz="1500" dirty="0"/>
          </a:p>
        </p:txBody>
      </p:sp>
      <p:sp>
        <p:nvSpPr>
          <p:cNvPr id="12" name="Text 10"/>
          <p:cNvSpPr txBox="1"/>
          <p:nvPr/>
        </p:nvSpPr>
        <p:spPr>
          <a:xfrm>
            <a:off x="3712464" y="3895344"/>
            <a:ext cx="2121408" cy="1691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Counts answered vs. unanswered per topic, and maps each topic to the policy documents that could evidence it.</a:t>
            </a:r>
            <a:endParaRPr lang="en-US" sz="1150" dirty="0"/>
          </a:p>
        </p:txBody>
      </p:sp>
      <p:sp>
        <p:nvSpPr>
          <p:cNvPr id="13" name="Shape 11"/>
          <p:cNvSpPr/>
          <p:nvPr/>
        </p:nvSpPr>
        <p:spPr>
          <a:xfrm>
            <a:off x="6236208" y="2697480"/>
            <a:ext cx="2587752" cy="3108960"/>
          </a:xfrm>
          <a:prstGeom prst="roundRect">
            <a:avLst>
              <a:gd name="adj" fmla="val 2120"/>
            </a:avLst>
          </a:prstGeom>
          <a:solidFill>
            <a:srgbClr val="152743"/>
          </a:solidFill>
          <a:ln w="9525">
            <a:solidFill>
              <a:srgbClr val="1D3453"/>
            </a:solidFill>
            <a:prstDash val="solid"/>
          </a:ln>
        </p:spPr>
      </p:sp>
      <p:sp>
        <p:nvSpPr>
          <p:cNvPr id="14" name="Text 12"/>
          <p:cNvSpPr txBox="1"/>
          <p:nvPr/>
        </p:nvSpPr>
        <p:spPr>
          <a:xfrm>
            <a:off x="6510528" y="2944368"/>
            <a:ext cx="1097280" cy="256032"/>
          </a:xfrm>
          <a:prstGeom prst="rect">
            <a:avLst/>
          </a:prstGeom>
          <a:noFill/>
          <a:ln/>
        </p:spPr>
        <p:txBody>
          <a:bodyPr wrap="square" lIns="0" tIns="0" rIns="0" bIns="0" rtlCol="0" anchor="ctr"/>
          <a:lstStyle/>
          <a:p>
            <a:pPr indent="0" marL="0">
              <a:buNone/>
            </a:pPr>
            <a:r>
              <a:rPr lang="en-US" sz="1100" spc="150" kern="0" dirty="0">
                <a:solidFill>
                  <a:srgbClr val="C6A24B"/>
                </a:solidFill>
                <a:latin typeface="Courier New" pitchFamily="34" charset="0"/>
                <a:ea typeface="Courier New" pitchFamily="34" charset="-122"/>
                <a:cs typeface="Courier New" pitchFamily="34" charset="-120"/>
              </a:rPr>
              <a:t>03</a:t>
            </a:r>
            <a:endParaRPr lang="en-US" sz="1100" dirty="0"/>
          </a:p>
        </p:txBody>
      </p:sp>
      <p:sp>
        <p:nvSpPr>
          <p:cNvPr id="15" name="Text 13"/>
          <p:cNvSpPr txBox="1"/>
          <p:nvPr/>
        </p:nvSpPr>
        <p:spPr>
          <a:xfrm>
            <a:off x="6510528" y="3255264"/>
            <a:ext cx="2103120" cy="566928"/>
          </a:xfrm>
          <a:prstGeom prst="rect">
            <a:avLst/>
          </a:prstGeom>
          <a:noFill/>
          <a:ln/>
        </p:spPr>
        <p:txBody>
          <a:bodyPr wrap="square" lIns="0" tIns="0" rIns="0" bIns="0" rtlCol="0" anchor="ctr"/>
          <a:lstStyle/>
          <a:p>
            <a:pPr indent="0" marL="0">
              <a:lnSpc>
                <a:spcPts val="1900"/>
              </a:lnSpc>
              <a:buNone/>
            </a:pPr>
            <a:r>
              <a:rPr lang="en-US" sz="1500" b="1" dirty="0">
                <a:solidFill>
                  <a:srgbClr val="F2F5FA"/>
                </a:solidFill>
                <a:latin typeface="Cambria" pitchFamily="34" charset="0"/>
                <a:ea typeface="Cambria" pitchFamily="34" charset="-122"/>
                <a:cs typeface="Cambria" pitchFamily="34" charset="-120"/>
              </a:rPr>
              <a:t>ADVISORY</a:t>
            </a:r>
            <a:endParaRPr lang="en-US" sz="1500" dirty="0"/>
          </a:p>
        </p:txBody>
      </p:sp>
      <p:sp>
        <p:nvSpPr>
          <p:cNvPr id="16" name="Text 14"/>
          <p:cNvSpPr txBox="1"/>
          <p:nvPr/>
        </p:nvSpPr>
        <p:spPr>
          <a:xfrm>
            <a:off x="6510528" y="3895344"/>
            <a:ext cx="2121408" cy="1691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Per-finding recommended action with a citation to the governing policy. Recommends; never acts.</a:t>
            </a:r>
            <a:endParaRPr lang="en-US" sz="1150" dirty="0"/>
          </a:p>
        </p:txBody>
      </p:sp>
      <p:sp>
        <p:nvSpPr>
          <p:cNvPr id="17" name="Shape 15"/>
          <p:cNvSpPr/>
          <p:nvPr/>
        </p:nvSpPr>
        <p:spPr>
          <a:xfrm>
            <a:off x="9034272" y="2697480"/>
            <a:ext cx="2587752" cy="3108960"/>
          </a:xfrm>
          <a:prstGeom prst="roundRect">
            <a:avLst>
              <a:gd name="adj" fmla="val 2120"/>
            </a:avLst>
          </a:prstGeom>
          <a:solidFill>
            <a:srgbClr val="152743"/>
          </a:solidFill>
          <a:ln w="9525">
            <a:solidFill>
              <a:srgbClr val="1D3453"/>
            </a:solidFill>
            <a:prstDash val="solid"/>
          </a:ln>
        </p:spPr>
      </p:sp>
      <p:sp>
        <p:nvSpPr>
          <p:cNvPr id="18" name="Text 16"/>
          <p:cNvSpPr txBox="1"/>
          <p:nvPr/>
        </p:nvSpPr>
        <p:spPr>
          <a:xfrm>
            <a:off x="9308592" y="2944368"/>
            <a:ext cx="1097280" cy="256032"/>
          </a:xfrm>
          <a:prstGeom prst="rect">
            <a:avLst/>
          </a:prstGeom>
          <a:noFill/>
          <a:ln/>
        </p:spPr>
        <p:txBody>
          <a:bodyPr wrap="square" lIns="0" tIns="0" rIns="0" bIns="0" rtlCol="0" anchor="ctr"/>
          <a:lstStyle/>
          <a:p>
            <a:pPr indent="0" marL="0">
              <a:buNone/>
            </a:pPr>
            <a:r>
              <a:rPr lang="en-US" sz="1100" spc="150" kern="0" dirty="0">
                <a:solidFill>
                  <a:srgbClr val="C6A24B"/>
                </a:solidFill>
                <a:latin typeface="Courier New" pitchFamily="34" charset="0"/>
                <a:ea typeface="Courier New" pitchFamily="34" charset="-122"/>
                <a:cs typeface="Courier New" pitchFamily="34" charset="-120"/>
              </a:rPr>
              <a:t>04</a:t>
            </a:r>
            <a:endParaRPr lang="en-US" sz="1100" dirty="0"/>
          </a:p>
        </p:txBody>
      </p:sp>
      <p:sp>
        <p:nvSpPr>
          <p:cNvPr id="19" name="Text 17"/>
          <p:cNvSpPr txBox="1"/>
          <p:nvPr/>
        </p:nvSpPr>
        <p:spPr>
          <a:xfrm>
            <a:off x="9308592" y="3255264"/>
            <a:ext cx="2103120" cy="566928"/>
          </a:xfrm>
          <a:prstGeom prst="rect">
            <a:avLst/>
          </a:prstGeom>
          <a:noFill/>
          <a:ln/>
        </p:spPr>
        <p:txBody>
          <a:bodyPr wrap="square" lIns="0" tIns="0" rIns="0" bIns="0" rtlCol="0" anchor="ctr"/>
          <a:lstStyle/>
          <a:p>
            <a:pPr indent="0" marL="0">
              <a:lnSpc>
                <a:spcPts val="1900"/>
              </a:lnSpc>
              <a:buNone/>
            </a:pPr>
            <a:r>
              <a:rPr lang="en-US" sz="1500" b="1" dirty="0">
                <a:solidFill>
                  <a:srgbClr val="F2F5FA"/>
                </a:solidFill>
                <a:latin typeface="Cambria" pitchFamily="34" charset="0"/>
                <a:ea typeface="Cambria" pitchFamily="34" charset="-122"/>
                <a:cs typeface="Cambria" pitchFamily="34" charset="-120"/>
              </a:rPr>
              <a:t>CONTROL GAPS</a:t>
            </a:r>
            <a:endParaRPr lang="en-US" sz="1500" dirty="0"/>
          </a:p>
        </p:txBody>
      </p:sp>
      <p:sp>
        <p:nvSpPr>
          <p:cNvPr id="20" name="Text 18"/>
          <p:cNvSpPr txBox="1"/>
          <p:nvPr/>
        </p:nvSpPr>
        <p:spPr>
          <a:xfrm>
            <a:off x="9308592" y="3895344"/>
            <a:ext cx="2121408" cy="1691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Twenty-four program-level controls with status, owner and evidence location. Unassessed counts as unknown, not met.</a:t>
            </a:r>
            <a:endParaRPr lang="en-US" sz="1150" dirty="0"/>
          </a:p>
        </p:txBody>
      </p:sp>
      <p:sp>
        <p:nvSpPr>
          <p:cNvPr id="21" name="Text 19"/>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300" i="1" dirty="0">
                <a:solidFill>
                  <a:srgbClr val="C6A24B"/>
                </a:solidFill>
                <a:latin typeface="Calibri" pitchFamily="34" charset="0"/>
                <a:ea typeface="Calibri" pitchFamily="34" charset="-122"/>
                <a:cs typeface="Calibri" pitchFamily="34" charset="-120"/>
              </a:rPr>
              <a:t>A voice assistant sits alongside all four. You ask what is at the top of the queue, who holds admin, or what a case still needs before sign-off.</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ARCHITECTURE</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The model is the last step, not the first</a:t>
            </a:r>
            <a:endParaRPr lang="en-US" sz="3600" dirty="0"/>
          </a:p>
        </p:txBody>
      </p:sp>
      <p:sp>
        <p:nvSpPr>
          <p:cNvPr id="4" name="Shape 2"/>
          <p:cNvSpPr/>
          <p:nvPr/>
        </p:nvSpPr>
        <p:spPr>
          <a:xfrm>
            <a:off x="566928" y="2286000"/>
            <a:ext cx="1700784" cy="1920240"/>
          </a:xfrm>
          <a:prstGeom prst="roundRect">
            <a:avLst>
              <a:gd name="adj" fmla="val 3226"/>
            </a:avLst>
          </a:prstGeom>
          <a:solidFill>
            <a:srgbClr val="152743"/>
          </a:solidFill>
          <a:ln w="9525">
            <a:solidFill>
              <a:srgbClr val="1D3453"/>
            </a:solidFill>
            <a:prstDash val="solid"/>
          </a:ln>
        </p:spPr>
      </p:sp>
      <p:sp>
        <p:nvSpPr>
          <p:cNvPr id="5" name="Text 3"/>
          <p:cNvSpPr txBox="1"/>
          <p:nvPr/>
        </p:nvSpPr>
        <p:spPr>
          <a:xfrm>
            <a:off x="713232" y="2468880"/>
            <a:ext cx="1463040" cy="256032"/>
          </a:xfrm>
          <a:prstGeom prst="rect">
            <a:avLst/>
          </a:prstGeom>
          <a:noFill/>
          <a:ln/>
        </p:spPr>
        <p:txBody>
          <a:bodyPr wrap="square" lIns="0" tIns="0" rIns="0" bIns="0" rtlCol="0" anchor="ctr"/>
          <a:lstStyle/>
          <a:p>
            <a:pPr indent="0" marL="0">
              <a:buNone/>
            </a:pPr>
            <a:r>
              <a:rPr lang="en-US" sz="950" b="1" spc="120" kern="0" dirty="0">
                <a:solidFill>
                  <a:srgbClr val="00D4E6"/>
                </a:solidFill>
                <a:latin typeface="Courier New" pitchFamily="34" charset="0"/>
                <a:ea typeface="Courier New" pitchFamily="34" charset="-122"/>
                <a:cs typeface="Courier New" pitchFamily="34" charset="-120"/>
              </a:rPr>
              <a:t>CORPUS</a:t>
            </a:r>
            <a:endParaRPr lang="en-US" sz="950" dirty="0"/>
          </a:p>
        </p:txBody>
      </p:sp>
      <p:sp>
        <p:nvSpPr>
          <p:cNvPr id="6" name="Text 4"/>
          <p:cNvSpPr txBox="1"/>
          <p:nvPr/>
        </p:nvSpPr>
        <p:spPr>
          <a:xfrm>
            <a:off x="713232" y="2798064"/>
            <a:ext cx="1444752" cy="1325880"/>
          </a:xfrm>
          <a:prstGeom prst="rect">
            <a:avLst/>
          </a:prstGeom>
          <a:noFill/>
          <a:ln/>
        </p:spPr>
        <p:txBody>
          <a:bodyPr wrap="square" lIns="0" tIns="0" rIns="0" bIns="0" rtlCol="0" anchor="ctr"/>
          <a:lstStyle/>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26 source documents:</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policies, contracts,</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spreadsheets, reports</a:t>
            </a:r>
            <a:endParaRPr lang="en-US" sz="1050" dirty="0"/>
          </a:p>
        </p:txBody>
      </p:sp>
      <p:sp>
        <p:nvSpPr>
          <p:cNvPr id="7" name="Text 5"/>
          <p:cNvSpPr txBox="1"/>
          <p:nvPr/>
        </p:nvSpPr>
        <p:spPr>
          <a:xfrm>
            <a:off x="2286000" y="3063240"/>
            <a:ext cx="219456" cy="365760"/>
          </a:xfrm>
          <a:prstGeom prst="rect">
            <a:avLst/>
          </a:prstGeom>
          <a:noFill/>
          <a:ln/>
        </p:spPr>
        <p:txBody>
          <a:bodyPr wrap="square" lIns="0" tIns="0" rIns="0" bIns="0" rtlCol="0" anchor="ctr"/>
          <a:lstStyle/>
          <a:p>
            <a:pPr algn="ctr" indent="0" marL="0">
              <a:buNone/>
            </a:pPr>
            <a:r>
              <a:rPr lang="en-US" sz="2000" dirty="0">
                <a:solidFill>
                  <a:srgbClr val="46587A"/>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450592" y="2286000"/>
            <a:ext cx="1700784" cy="1920240"/>
          </a:xfrm>
          <a:prstGeom prst="roundRect">
            <a:avLst>
              <a:gd name="adj" fmla="val 3226"/>
            </a:avLst>
          </a:prstGeom>
          <a:solidFill>
            <a:srgbClr val="152743"/>
          </a:solidFill>
          <a:ln w="9525">
            <a:solidFill>
              <a:srgbClr val="1D3453"/>
            </a:solidFill>
            <a:prstDash val="solid"/>
          </a:ln>
        </p:spPr>
      </p:sp>
      <p:sp>
        <p:nvSpPr>
          <p:cNvPr id="9" name="Text 7"/>
          <p:cNvSpPr txBox="1"/>
          <p:nvPr/>
        </p:nvSpPr>
        <p:spPr>
          <a:xfrm>
            <a:off x="2596896" y="2468880"/>
            <a:ext cx="1463040" cy="256032"/>
          </a:xfrm>
          <a:prstGeom prst="rect">
            <a:avLst/>
          </a:prstGeom>
          <a:noFill/>
          <a:ln/>
        </p:spPr>
        <p:txBody>
          <a:bodyPr wrap="square" lIns="0" tIns="0" rIns="0" bIns="0" rtlCol="0" anchor="ctr"/>
          <a:lstStyle/>
          <a:p>
            <a:pPr indent="0" marL="0">
              <a:buNone/>
            </a:pPr>
            <a:r>
              <a:rPr lang="en-US" sz="950" b="1" spc="120" kern="0" dirty="0">
                <a:solidFill>
                  <a:srgbClr val="00D4E6"/>
                </a:solidFill>
                <a:latin typeface="Courier New" pitchFamily="34" charset="0"/>
                <a:ea typeface="Courier New" pitchFamily="34" charset="-122"/>
                <a:cs typeface="Courier New" pitchFamily="34" charset="-120"/>
              </a:rPr>
              <a:t>ADAPTER</a:t>
            </a:r>
            <a:endParaRPr lang="en-US" sz="950" dirty="0"/>
          </a:p>
        </p:txBody>
      </p:sp>
      <p:sp>
        <p:nvSpPr>
          <p:cNvPr id="10" name="Text 8"/>
          <p:cNvSpPr txBox="1"/>
          <p:nvPr/>
        </p:nvSpPr>
        <p:spPr>
          <a:xfrm>
            <a:off x="2596896" y="2798064"/>
            <a:ext cx="1444752" cy="1325880"/>
          </a:xfrm>
          <a:prstGeom prst="rect">
            <a:avLst/>
          </a:prstGeom>
          <a:noFill/>
          <a:ln/>
        </p:spPr>
        <p:txBody>
          <a:bodyPr wrap="square" lIns="0" tIns="0" rIns="0" bIns="0" rtlCol="0" anchor="ctr"/>
          <a:lstStyle/>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Mapped onto a canonical</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shape. No field is</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inferred or filled in.</a:t>
            </a:r>
            <a:endParaRPr lang="en-US" sz="1050" dirty="0"/>
          </a:p>
        </p:txBody>
      </p:sp>
      <p:sp>
        <p:nvSpPr>
          <p:cNvPr id="11" name="Text 9"/>
          <p:cNvSpPr txBox="1"/>
          <p:nvPr/>
        </p:nvSpPr>
        <p:spPr>
          <a:xfrm>
            <a:off x="4169664" y="3063240"/>
            <a:ext cx="219456" cy="365760"/>
          </a:xfrm>
          <a:prstGeom prst="rect">
            <a:avLst/>
          </a:prstGeom>
          <a:noFill/>
          <a:ln/>
        </p:spPr>
        <p:txBody>
          <a:bodyPr wrap="square" lIns="0" tIns="0" rIns="0" bIns="0" rtlCol="0" anchor="ctr"/>
          <a:lstStyle/>
          <a:p>
            <a:pPr algn="ctr" indent="0" marL="0">
              <a:buNone/>
            </a:pPr>
            <a:r>
              <a:rPr lang="en-US" sz="2000" dirty="0">
                <a:solidFill>
                  <a:srgbClr val="46587A"/>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4334256" y="2286000"/>
            <a:ext cx="1700784" cy="1920240"/>
          </a:xfrm>
          <a:prstGeom prst="roundRect">
            <a:avLst>
              <a:gd name="adj" fmla="val 3226"/>
            </a:avLst>
          </a:prstGeom>
          <a:solidFill>
            <a:srgbClr val="152743"/>
          </a:solidFill>
          <a:ln w="9525">
            <a:solidFill>
              <a:srgbClr val="1D3453"/>
            </a:solidFill>
            <a:prstDash val="solid"/>
          </a:ln>
        </p:spPr>
      </p:sp>
      <p:sp>
        <p:nvSpPr>
          <p:cNvPr id="13" name="Text 11"/>
          <p:cNvSpPr txBox="1"/>
          <p:nvPr/>
        </p:nvSpPr>
        <p:spPr>
          <a:xfrm>
            <a:off x="4480560" y="2468880"/>
            <a:ext cx="1463040" cy="256032"/>
          </a:xfrm>
          <a:prstGeom prst="rect">
            <a:avLst/>
          </a:prstGeom>
          <a:noFill/>
          <a:ln/>
        </p:spPr>
        <p:txBody>
          <a:bodyPr wrap="square" lIns="0" tIns="0" rIns="0" bIns="0" rtlCol="0" anchor="ctr"/>
          <a:lstStyle/>
          <a:p>
            <a:pPr indent="0" marL="0">
              <a:buNone/>
            </a:pPr>
            <a:r>
              <a:rPr lang="en-US" sz="950" b="1" spc="120" kern="0" dirty="0">
                <a:solidFill>
                  <a:srgbClr val="00D4E6"/>
                </a:solidFill>
                <a:latin typeface="Courier New" pitchFamily="34" charset="0"/>
                <a:ea typeface="Courier New" pitchFamily="34" charset="-122"/>
                <a:cs typeface="Courier New" pitchFamily="34" charset="-120"/>
              </a:rPr>
              <a:t>FIXED RULES</a:t>
            </a:r>
            <a:endParaRPr lang="en-US" sz="950" dirty="0"/>
          </a:p>
        </p:txBody>
      </p:sp>
      <p:sp>
        <p:nvSpPr>
          <p:cNvPr id="14" name="Text 12"/>
          <p:cNvSpPr txBox="1"/>
          <p:nvPr/>
        </p:nvSpPr>
        <p:spPr>
          <a:xfrm>
            <a:off x="4480560" y="2798064"/>
            <a:ext cx="1444752" cy="1325880"/>
          </a:xfrm>
          <a:prstGeom prst="rect">
            <a:avLst/>
          </a:prstGeom>
          <a:noFill/>
          <a:ln/>
        </p:spPr>
        <p:txBody>
          <a:bodyPr wrap="square" lIns="0" tIns="0" rIns="0" bIns="0" rtlCol="0" anchor="ctr"/>
          <a:lstStyle/>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Plain checks read named</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cells. Severity 1–5,</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no model involved.</a:t>
            </a:r>
            <a:endParaRPr lang="en-US" sz="1050" dirty="0"/>
          </a:p>
        </p:txBody>
      </p:sp>
      <p:sp>
        <p:nvSpPr>
          <p:cNvPr id="15" name="Text 13"/>
          <p:cNvSpPr txBox="1"/>
          <p:nvPr/>
        </p:nvSpPr>
        <p:spPr>
          <a:xfrm>
            <a:off x="6053328" y="3063240"/>
            <a:ext cx="219456" cy="365760"/>
          </a:xfrm>
          <a:prstGeom prst="rect">
            <a:avLst/>
          </a:prstGeom>
          <a:noFill/>
          <a:ln/>
        </p:spPr>
        <p:txBody>
          <a:bodyPr wrap="square" lIns="0" tIns="0" rIns="0" bIns="0" rtlCol="0" anchor="ctr"/>
          <a:lstStyle/>
          <a:p>
            <a:pPr algn="ctr" indent="0" marL="0">
              <a:buNone/>
            </a:pPr>
            <a:r>
              <a:rPr lang="en-US" sz="2000" dirty="0">
                <a:solidFill>
                  <a:srgbClr val="46587A"/>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17920" y="2286000"/>
            <a:ext cx="1700784" cy="1920240"/>
          </a:xfrm>
          <a:prstGeom prst="roundRect">
            <a:avLst>
              <a:gd name="adj" fmla="val 3226"/>
            </a:avLst>
          </a:prstGeom>
          <a:solidFill>
            <a:srgbClr val="152743"/>
          </a:solidFill>
          <a:ln w="9525">
            <a:solidFill>
              <a:srgbClr val="1D3453"/>
            </a:solidFill>
            <a:prstDash val="solid"/>
          </a:ln>
        </p:spPr>
      </p:sp>
      <p:sp>
        <p:nvSpPr>
          <p:cNvPr id="17" name="Text 15"/>
          <p:cNvSpPr txBox="1"/>
          <p:nvPr/>
        </p:nvSpPr>
        <p:spPr>
          <a:xfrm>
            <a:off x="6364224" y="2468880"/>
            <a:ext cx="1463040" cy="256032"/>
          </a:xfrm>
          <a:prstGeom prst="rect">
            <a:avLst/>
          </a:prstGeom>
          <a:noFill/>
          <a:ln/>
        </p:spPr>
        <p:txBody>
          <a:bodyPr wrap="square" lIns="0" tIns="0" rIns="0" bIns="0" rtlCol="0" anchor="ctr"/>
          <a:lstStyle/>
          <a:p>
            <a:pPr indent="0" marL="0">
              <a:buNone/>
            </a:pPr>
            <a:r>
              <a:rPr lang="en-US" sz="950" b="1" spc="120" kern="0" dirty="0">
                <a:solidFill>
                  <a:srgbClr val="00D4E6"/>
                </a:solidFill>
                <a:latin typeface="Courier New" pitchFamily="34" charset="0"/>
                <a:ea typeface="Courier New" pitchFamily="34" charset="-122"/>
                <a:cs typeface="Courier New" pitchFamily="34" charset="-120"/>
              </a:rPr>
              <a:t>FINDINGS</a:t>
            </a:r>
            <a:endParaRPr lang="en-US" sz="950" dirty="0"/>
          </a:p>
        </p:txBody>
      </p:sp>
      <p:sp>
        <p:nvSpPr>
          <p:cNvPr id="18" name="Text 16"/>
          <p:cNvSpPr txBox="1"/>
          <p:nvPr/>
        </p:nvSpPr>
        <p:spPr>
          <a:xfrm>
            <a:off x="6364224" y="2798064"/>
            <a:ext cx="1444752" cy="1325880"/>
          </a:xfrm>
          <a:prstGeom prst="rect">
            <a:avLst/>
          </a:prstGeom>
          <a:noFill/>
          <a:ln/>
        </p:spPr>
        <p:txBody>
          <a:bodyPr wrap="square" lIns="0" tIns="0" rIns="0" bIns="0" rtlCol="0" anchor="ctr"/>
          <a:lstStyle/>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Each carries subject,</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source file, action</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and policy citation.</a:t>
            </a:r>
            <a:endParaRPr lang="en-US" sz="1050" dirty="0"/>
          </a:p>
        </p:txBody>
      </p:sp>
      <p:sp>
        <p:nvSpPr>
          <p:cNvPr id="19" name="Text 17"/>
          <p:cNvSpPr txBox="1"/>
          <p:nvPr/>
        </p:nvSpPr>
        <p:spPr>
          <a:xfrm>
            <a:off x="7936992" y="3063240"/>
            <a:ext cx="219456" cy="365760"/>
          </a:xfrm>
          <a:prstGeom prst="rect">
            <a:avLst/>
          </a:prstGeom>
          <a:noFill/>
          <a:ln/>
        </p:spPr>
        <p:txBody>
          <a:bodyPr wrap="square" lIns="0" tIns="0" rIns="0" bIns="0" rtlCol="0" anchor="ctr"/>
          <a:lstStyle/>
          <a:p>
            <a:pPr algn="ctr" indent="0" marL="0">
              <a:buNone/>
            </a:pPr>
            <a:r>
              <a:rPr lang="en-US" sz="2000" dirty="0">
                <a:solidFill>
                  <a:srgbClr val="46587A"/>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8101584" y="2286000"/>
            <a:ext cx="1700784" cy="1920240"/>
          </a:xfrm>
          <a:prstGeom prst="roundRect">
            <a:avLst>
              <a:gd name="adj" fmla="val 3226"/>
            </a:avLst>
          </a:prstGeom>
          <a:solidFill>
            <a:srgbClr val="1B2C3F"/>
          </a:solidFill>
          <a:ln w="9525">
            <a:solidFill>
              <a:srgbClr val="1D3453"/>
            </a:solidFill>
            <a:prstDash val="solid"/>
          </a:ln>
        </p:spPr>
      </p:sp>
      <p:sp>
        <p:nvSpPr>
          <p:cNvPr id="21" name="Text 19"/>
          <p:cNvSpPr txBox="1"/>
          <p:nvPr/>
        </p:nvSpPr>
        <p:spPr>
          <a:xfrm>
            <a:off x="8247888" y="2468880"/>
            <a:ext cx="1463040" cy="256032"/>
          </a:xfrm>
          <a:prstGeom prst="rect">
            <a:avLst/>
          </a:prstGeom>
          <a:noFill/>
          <a:ln/>
        </p:spPr>
        <p:txBody>
          <a:bodyPr wrap="square" lIns="0" tIns="0" rIns="0" bIns="0" rtlCol="0" anchor="ctr"/>
          <a:lstStyle/>
          <a:p>
            <a:pPr indent="0" marL="0">
              <a:buNone/>
            </a:pPr>
            <a:r>
              <a:rPr lang="en-US" sz="950" b="1" spc="120" kern="0" dirty="0">
                <a:solidFill>
                  <a:srgbClr val="C6A24B"/>
                </a:solidFill>
                <a:latin typeface="Courier New" pitchFamily="34" charset="0"/>
                <a:ea typeface="Courier New" pitchFamily="34" charset="-122"/>
                <a:cs typeface="Courier New" pitchFamily="34" charset="-120"/>
              </a:rPr>
              <a:t>BRIEFING</a:t>
            </a:r>
            <a:endParaRPr lang="en-US" sz="950" dirty="0"/>
          </a:p>
        </p:txBody>
      </p:sp>
      <p:sp>
        <p:nvSpPr>
          <p:cNvPr id="22" name="Text 20"/>
          <p:cNvSpPr txBox="1"/>
          <p:nvPr/>
        </p:nvSpPr>
        <p:spPr>
          <a:xfrm>
            <a:off x="8247888" y="2798064"/>
            <a:ext cx="1444752" cy="1325880"/>
          </a:xfrm>
          <a:prstGeom prst="rect">
            <a:avLst/>
          </a:prstGeom>
          <a:noFill/>
          <a:ln/>
        </p:spPr>
        <p:txBody>
          <a:bodyPr wrap="square" lIns="0" tIns="0" rIns="0" bIns="0" rtlCol="0" anchor="ctr"/>
          <a:lstStyle/>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Findings compiled into</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a text briefing, synced</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as agent knowledge.</a:t>
            </a:r>
            <a:endParaRPr lang="en-US" sz="1050" dirty="0"/>
          </a:p>
        </p:txBody>
      </p:sp>
      <p:sp>
        <p:nvSpPr>
          <p:cNvPr id="23" name="Text 21"/>
          <p:cNvSpPr txBox="1"/>
          <p:nvPr/>
        </p:nvSpPr>
        <p:spPr>
          <a:xfrm>
            <a:off x="9820656" y="3063240"/>
            <a:ext cx="219456" cy="365760"/>
          </a:xfrm>
          <a:prstGeom prst="rect">
            <a:avLst/>
          </a:prstGeom>
          <a:noFill/>
          <a:ln/>
        </p:spPr>
        <p:txBody>
          <a:bodyPr wrap="square" lIns="0" tIns="0" rIns="0" bIns="0" rtlCol="0" anchor="ctr"/>
          <a:lstStyle/>
          <a:p>
            <a:pPr algn="ctr" indent="0" marL="0">
              <a:buNone/>
            </a:pPr>
            <a:r>
              <a:rPr lang="en-US" sz="2000" dirty="0">
                <a:solidFill>
                  <a:srgbClr val="46587A"/>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9985248" y="2286000"/>
            <a:ext cx="1700784" cy="1920240"/>
          </a:xfrm>
          <a:prstGeom prst="roundRect">
            <a:avLst>
              <a:gd name="adj" fmla="val 3226"/>
            </a:avLst>
          </a:prstGeom>
          <a:solidFill>
            <a:srgbClr val="1B2C3F"/>
          </a:solidFill>
          <a:ln w="9525">
            <a:solidFill>
              <a:srgbClr val="1D3453"/>
            </a:solidFill>
            <a:prstDash val="solid"/>
          </a:ln>
        </p:spPr>
      </p:sp>
      <p:sp>
        <p:nvSpPr>
          <p:cNvPr id="25" name="Text 23"/>
          <p:cNvSpPr txBox="1"/>
          <p:nvPr/>
        </p:nvSpPr>
        <p:spPr>
          <a:xfrm>
            <a:off x="10131552" y="2468880"/>
            <a:ext cx="1463040" cy="256032"/>
          </a:xfrm>
          <a:prstGeom prst="rect">
            <a:avLst/>
          </a:prstGeom>
          <a:noFill/>
          <a:ln/>
        </p:spPr>
        <p:txBody>
          <a:bodyPr wrap="square" lIns="0" tIns="0" rIns="0" bIns="0" rtlCol="0" anchor="ctr"/>
          <a:lstStyle/>
          <a:p>
            <a:pPr indent="0" marL="0">
              <a:buNone/>
            </a:pPr>
            <a:r>
              <a:rPr lang="en-US" sz="950" b="1" spc="120" kern="0" dirty="0">
                <a:solidFill>
                  <a:srgbClr val="C6A24B"/>
                </a:solidFill>
                <a:latin typeface="Courier New" pitchFamily="34" charset="0"/>
                <a:ea typeface="Courier New" pitchFamily="34" charset="-122"/>
                <a:cs typeface="Courier New" pitchFamily="34" charset="-120"/>
              </a:rPr>
              <a:t>VOICE</a:t>
            </a:r>
            <a:endParaRPr lang="en-US" sz="950" dirty="0"/>
          </a:p>
        </p:txBody>
      </p:sp>
      <p:sp>
        <p:nvSpPr>
          <p:cNvPr id="26" name="Text 24"/>
          <p:cNvSpPr txBox="1"/>
          <p:nvPr/>
        </p:nvSpPr>
        <p:spPr>
          <a:xfrm>
            <a:off x="10131552" y="2798064"/>
            <a:ext cx="1444752" cy="1325880"/>
          </a:xfrm>
          <a:prstGeom prst="rect">
            <a:avLst/>
          </a:prstGeom>
          <a:noFill/>
          <a:ln/>
        </p:spPr>
        <p:txBody>
          <a:bodyPr wrap="square" lIns="0" tIns="0" rIns="0" bIns="0" rtlCol="0" anchor="ctr"/>
          <a:lstStyle/>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Assistant explains what</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the rules already found.</a:t>
            </a:r>
            <a:endParaRPr lang="en-US" sz="1050" dirty="0"/>
          </a:p>
          <a:p>
            <a:pPr indent="0" marL="0">
              <a:lnSpc>
                <a:spcPts val="1400"/>
              </a:lnSpc>
              <a:buNone/>
            </a:pPr>
            <a:r>
              <a:rPr lang="en-US" sz="1050" dirty="0">
                <a:solidFill>
                  <a:srgbClr val="8FA0BA"/>
                </a:solidFill>
                <a:latin typeface="Calibri" pitchFamily="34" charset="0"/>
                <a:ea typeface="Calibri" pitchFamily="34" charset="-122"/>
                <a:cs typeface="Calibri" pitchFamily="34" charset="-120"/>
              </a:rPr>
              <a:t>A person decides.</a:t>
            </a:r>
            <a:endParaRPr lang="en-US" sz="1050" dirty="0"/>
          </a:p>
        </p:txBody>
      </p:sp>
      <p:sp>
        <p:nvSpPr>
          <p:cNvPr id="27" name="Shape 25"/>
          <p:cNvSpPr/>
          <p:nvPr/>
        </p:nvSpPr>
        <p:spPr>
          <a:xfrm>
            <a:off x="566928" y="4590288"/>
            <a:ext cx="7370064" cy="27432"/>
          </a:xfrm>
          <a:prstGeom prst="rect">
            <a:avLst/>
          </a:prstGeom>
          <a:solidFill>
            <a:srgbClr val="00D4E6"/>
          </a:solidFill>
          <a:ln w="12700">
            <a:solidFill>
              <a:srgbClr val="00D4E6"/>
            </a:solidFill>
            <a:prstDash val="solid"/>
          </a:ln>
        </p:spPr>
      </p:sp>
      <p:sp>
        <p:nvSpPr>
          <p:cNvPr id="28" name="Text 26"/>
          <p:cNvSpPr txBox="1"/>
          <p:nvPr/>
        </p:nvSpPr>
        <p:spPr>
          <a:xfrm>
            <a:off x="566928" y="4700016"/>
            <a:ext cx="7370064" cy="274320"/>
          </a:xfrm>
          <a:prstGeom prst="rect">
            <a:avLst/>
          </a:prstGeom>
          <a:noFill/>
          <a:ln/>
        </p:spPr>
        <p:txBody>
          <a:bodyPr wrap="square" lIns="0" tIns="0" rIns="0" bIns="0" rtlCol="0" anchor="ctr"/>
          <a:lstStyle/>
          <a:p>
            <a:pPr indent="0" marL="0">
              <a:buNone/>
            </a:pPr>
            <a:r>
              <a:rPr lang="en-US" sz="950" spc="160" kern="0" dirty="0">
                <a:solidFill>
                  <a:srgbClr val="00D4E6"/>
                </a:solidFill>
                <a:latin typeface="Courier New" pitchFamily="34" charset="0"/>
                <a:ea typeface="Courier New" pitchFamily="34" charset="-122"/>
                <a:cs typeface="Courier New" pitchFamily="34" charset="-120"/>
              </a:rPr>
              <a:t>DETERMINISTIC — REPRODUCIBLE, AUDITABLE</a:t>
            </a:r>
            <a:endParaRPr lang="en-US" sz="950" dirty="0"/>
          </a:p>
        </p:txBody>
      </p:sp>
      <p:sp>
        <p:nvSpPr>
          <p:cNvPr id="29" name="Shape 27"/>
          <p:cNvSpPr/>
          <p:nvPr/>
        </p:nvSpPr>
        <p:spPr>
          <a:xfrm>
            <a:off x="8101584" y="4590288"/>
            <a:ext cx="3493008" cy="27432"/>
          </a:xfrm>
          <a:prstGeom prst="rect">
            <a:avLst/>
          </a:prstGeom>
          <a:solidFill>
            <a:srgbClr val="C6A24B"/>
          </a:solidFill>
          <a:ln w="12700">
            <a:solidFill>
              <a:srgbClr val="C6A24B"/>
            </a:solidFill>
            <a:prstDash val="solid"/>
          </a:ln>
        </p:spPr>
      </p:sp>
      <p:sp>
        <p:nvSpPr>
          <p:cNvPr id="30" name="Text 28"/>
          <p:cNvSpPr txBox="1"/>
          <p:nvPr/>
        </p:nvSpPr>
        <p:spPr>
          <a:xfrm>
            <a:off x="8101584" y="4700016"/>
            <a:ext cx="3493008" cy="274320"/>
          </a:xfrm>
          <a:prstGeom prst="rect">
            <a:avLst/>
          </a:prstGeom>
          <a:noFill/>
          <a:ln/>
        </p:spPr>
        <p:txBody>
          <a:bodyPr wrap="square" lIns="0" tIns="0" rIns="0" bIns="0" rtlCol="0" anchor="ctr"/>
          <a:lstStyle/>
          <a:p>
            <a:pPr indent="0" marL="0">
              <a:buNone/>
            </a:pPr>
            <a:r>
              <a:rPr lang="en-US" sz="950" spc="160" kern="0" dirty="0">
                <a:solidFill>
                  <a:srgbClr val="C6A24B"/>
                </a:solidFill>
                <a:latin typeface="Courier New" pitchFamily="34" charset="0"/>
                <a:ea typeface="Courier New" pitchFamily="34" charset="-122"/>
                <a:cs typeface="Courier New" pitchFamily="34" charset="-120"/>
              </a:rPr>
              <a:t>GENERATIVE — NARRATION ONLY</a:t>
            </a:r>
            <a:endParaRPr lang="en-US" sz="950" dirty="0"/>
          </a:p>
        </p:txBody>
      </p:sp>
      <p:sp>
        <p:nvSpPr>
          <p:cNvPr id="31" name="Text 29"/>
          <p:cNvSpPr txBox="1"/>
          <p:nvPr/>
        </p:nvSpPr>
        <p:spPr>
          <a:xfrm>
            <a:off x="566928" y="5230368"/>
            <a:ext cx="11018520" cy="731520"/>
          </a:xfrm>
          <a:prstGeom prst="rect">
            <a:avLst/>
          </a:prstGeom>
          <a:noFill/>
          <a:ln/>
        </p:spPr>
        <p:txBody>
          <a:bodyPr wrap="square" lIns="0" tIns="0" rIns="0" bIns="0" rtlCol="0" anchor="ctr"/>
          <a:lstStyle/>
          <a:p>
            <a:pPr indent="0" marL="0">
              <a:lnSpc>
                <a:spcPts val="1900"/>
              </a:lnSpc>
              <a:buNone/>
            </a:pPr>
            <a:r>
              <a:rPr lang="en-US" sz="1300" dirty="0">
                <a:solidFill>
                  <a:srgbClr val="8FA0BA"/>
                </a:solidFill>
                <a:latin typeface="Calibri" pitchFamily="34" charset="0"/>
                <a:ea typeface="Calibri" pitchFamily="34" charset="-122"/>
                <a:cs typeface="Calibri" pitchFamily="34" charset="-120"/>
              </a:rPr>
              <a:t>The assistant is briefed from the findings, so it repeats figures rather than producing them. It also has no write path to any source system — it cannot revoke, rotate or disable anything, which is the only safeguard that holds against a manipulated instruction.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LIVE OUTPUT</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13 findings from 17 records, in one pass</a:t>
            </a:r>
            <a:endParaRPr lang="en-US" sz="3600" dirty="0"/>
          </a:p>
        </p:txBody>
      </p:sp>
      <p:sp>
        <p:nvSpPr>
          <p:cNvPr id="4" name="Text 2"/>
          <p:cNvSpPr txBox="1"/>
          <p:nvPr/>
        </p:nvSpPr>
        <p:spPr>
          <a:xfrm>
            <a:off x="640080" y="1572768"/>
            <a:ext cx="10881360" cy="685800"/>
          </a:xfrm>
          <a:prstGeom prst="rect">
            <a:avLst/>
          </a:prstGeom>
          <a:noFill/>
          <a:ln/>
        </p:spPr>
        <p:txBody>
          <a:bodyPr wrap="square" lIns="0" tIns="0" rIns="0" bIns="0" rtlCol="0" anchor="ctr"/>
          <a:lstStyle/>
          <a:p>
            <a:pPr indent="0" marL="0">
              <a:lnSpc>
                <a:spcPts val="2200"/>
              </a:lnSpc>
              <a:buNone/>
            </a:pPr>
            <a:r>
              <a:rPr lang="en-US" sz="1500" dirty="0">
                <a:solidFill>
                  <a:srgbClr val="8FA0BA"/>
                </a:solidFill>
                <a:latin typeface="Calibri" pitchFamily="34" charset="0"/>
                <a:ea typeface="Calibri" pitchFamily="34" charset="-122"/>
                <a:cs typeface="Calibri" pitchFamily="34" charset="-120"/>
              </a:rPr>
              <a:t>Produced by the rules in the repository running over the vendor-compliance corpus. Not a mockup and not sample data.</a:t>
            </a:r>
            <a:endParaRPr lang="en-US" sz="1500" dirty="0"/>
          </a:p>
        </p:txBody>
      </p:sp>
      <p:graphicFrame>
        <p:nvGraphicFramePr>
          <p:cNvPr id="5" name="Chart 0" descr=""/>
          <p:cNvGraphicFramePr/>
          <p:nvPr/>
        </p:nvGraphicFramePr>
        <p:xfrm>
          <a:off x="640080" y="2514600"/>
          <a:ext cx="59436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49440" y="2514600"/>
            <a:ext cx="4572000" cy="960120"/>
          </a:xfrm>
          <a:prstGeom prst="roundRect">
            <a:avLst>
              <a:gd name="adj" fmla="val 5714"/>
            </a:avLst>
          </a:prstGeom>
          <a:solidFill>
            <a:srgbClr val="152743"/>
          </a:solidFill>
          <a:ln w="9525">
            <a:solidFill>
              <a:srgbClr val="1D3453"/>
            </a:solidFill>
            <a:prstDash val="solid"/>
          </a:ln>
        </p:spPr>
      </p:sp>
      <p:sp>
        <p:nvSpPr>
          <p:cNvPr id="7" name="Text 4"/>
          <p:cNvSpPr txBox="1"/>
          <p:nvPr/>
        </p:nvSpPr>
        <p:spPr>
          <a:xfrm>
            <a:off x="7205472" y="2633472"/>
            <a:ext cx="1691640" cy="566928"/>
          </a:xfrm>
          <a:prstGeom prst="rect">
            <a:avLst/>
          </a:prstGeom>
          <a:noFill/>
          <a:ln/>
        </p:spPr>
        <p:txBody>
          <a:bodyPr wrap="square" lIns="0" tIns="0" rIns="0" bIns="0" rtlCol="0" anchor="ctr"/>
          <a:lstStyle/>
          <a:p>
            <a:pPr indent="0" marL="0">
              <a:buNone/>
            </a:pPr>
            <a:r>
              <a:rPr lang="en-US" sz="3000" b="1" dirty="0">
                <a:solidFill>
                  <a:srgbClr val="00D4E6"/>
                </a:solidFill>
                <a:latin typeface="Cambria" pitchFamily="34" charset="0"/>
                <a:ea typeface="Cambria" pitchFamily="34" charset="-122"/>
                <a:cs typeface="Cambria" pitchFamily="34" charset="-120"/>
              </a:rPr>
              <a:t>7</a:t>
            </a:r>
            <a:endParaRPr lang="en-US" sz="3000" dirty="0"/>
          </a:p>
        </p:txBody>
      </p:sp>
      <p:sp>
        <p:nvSpPr>
          <p:cNvPr id="8" name="Text 5"/>
          <p:cNvSpPr txBox="1"/>
          <p:nvPr/>
        </p:nvSpPr>
        <p:spPr>
          <a:xfrm>
            <a:off x="8942832" y="2697480"/>
            <a:ext cx="2377440" cy="64008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accounts reviewed on the</a:t>
            </a:r>
            <a:endParaRPr lang="en-US" sz="1150" dirty="0"/>
          </a:p>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AWS production console</a:t>
            </a:r>
            <a:endParaRPr lang="en-US" sz="1150" dirty="0"/>
          </a:p>
        </p:txBody>
      </p:sp>
      <p:sp>
        <p:nvSpPr>
          <p:cNvPr id="9" name="Shape 6"/>
          <p:cNvSpPr/>
          <p:nvPr/>
        </p:nvSpPr>
        <p:spPr>
          <a:xfrm>
            <a:off x="6949440" y="3611880"/>
            <a:ext cx="4572000" cy="960120"/>
          </a:xfrm>
          <a:prstGeom prst="roundRect">
            <a:avLst>
              <a:gd name="adj" fmla="val 5714"/>
            </a:avLst>
          </a:prstGeom>
          <a:solidFill>
            <a:srgbClr val="152743"/>
          </a:solidFill>
          <a:ln w="9525">
            <a:solidFill>
              <a:srgbClr val="1D3453"/>
            </a:solidFill>
            <a:prstDash val="solid"/>
          </a:ln>
        </p:spPr>
      </p:sp>
      <p:sp>
        <p:nvSpPr>
          <p:cNvPr id="10" name="Text 7"/>
          <p:cNvSpPr txBox="1"/>
          <p:nvPr/>
        </p:nvSpPr>
        <p:spPr>
          <a:xfrm>
            <a:off x="7205472" y="3730752"/>
            <a:ext cx="1691640" cy="566928"/>
          </a:xfrm>
          <a:prstGeom prst="rect">
            <a:avLst/>
          </a:prstGeom>
          <a:noFill/>
          <a:ln/>
        </p:spPr>
        <p:txBody>
          <a:bodyPr wrap="square" lIns="0" tIns="0" rIns="0" bIns="0" rtlCol="0" anchor="ctr"/>
          <a:lstStyle/>
          <a:p>
            <a:pPr indent="0" marL="0">
              <a:buNone/>
            </a:pPr>
            <a:r>
              <a:rPr lang="en-US" sz="3000" b="1" dirty="0">
                <a:solidFill>
                  <a:srgbClr val="00D4E6"/>
                </a:solidFill>
                <a:latin typeface="Cambria" pitchFamily="34" charset="0"/>
                <a:ea typeface="Cambria" pitchFamily="34" charset="-122"/>
                <a:cs typeface="Cambria" pitchFamily="34" charset="-120"/>
              </a:rPr>
              <a:t>4 of 7</a:t>
            </a:r>
            <a:endParaRPr lang="en-US" sz="3000" dirty="0"/>
          </a:p>
        </p:txBody>
      </p:sp>
      <p:sp>
        <p:nvSpPr>
          <p:cNvPr id="11" name="Text 8"/>
          <p:cNvSpPr txBox="1"/>
          <p:nvPr/>
        </p:nvSpPr>
        <p:spPr>
          <a:xfrm>
            <a:off x="8942832" y="3794760"/>
            <a:ext cx="2377440" cy="64008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hold Admin — least privilege</a:t>
            </a:r>
            <a:endParaRPr lang="en-US" sz="1150" dirty="0"/>
          </a:p>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is unenforceable at that ratio</a:t>
            </a:r>
            <a:endParaRPr lang="en-US" sz="1150" dirty="0"/>
          </a:p>
        </p:txBody>
      </p:sp>
      <p:sp>
        <p:nvSpPr>
          <p:cNvPr id="12" name="Shape 9"/>
          <p:cNvSpPr/>
          <p:nvPr/>
        </p:nvSpPr>
        <p:spPr>
          <a:xfrm>
            <a:off x="6949440" y="4709160"/>
            <a:ext cx="4572000" cy="960120"/>
          </a:xfrm>
          <a:prstGeom prst="roundRect">
            <a:avLst>
              <a:gd name="adj" fmla="val 5714"/>
            </a:avLst>
          </a:prstGeom>
          <a:solidFill>
            <a:srgbClr val="152743"/>
          </a:solidFill>
          <a:ln w="9525">
            <a:solidFill>
              <a:srgbClr val="1D3453"/>
            </a:solidFill>
            <a:prstDash val="solid"/>
          </a:ln>
        </p:spPr>
      </p:sp>
      <p:sp>
        <p:nvSpPr>
          <p:cNvPr id="13" name="Text 10"/>
          <p:cNvSpPr txBox="1"/>
          <p:nvPr/>
        </p:nvSpPr>
        <p:spPr>
          <a:xfrm>
            <a:off x="7205472" y="4828032"/>
            <a:ext cx="1691640" cy="566928"/>
          </a:xfrm>
          <a:prstGeom prst="rect">
            <a:avLst/>
          </a:prstGeom>
          <a:noFill/>
          <a:ln/>
        </p:spPr>
        <p:txBody>
          <a:bodyPr wrap="square" lIns="0" tIns="0" rIns="0" bIns="0" rtlCol="0" anchor="ctr"/>
          <a:lstStyle/>
          <a:p>
            <a:pPr indent="0" marL="0">
              <a:buNone/>
            </a:pPr>
            <a:r>
              <a:rPr lang="en-US" sz="3000" b="1" dirty="0">
                <a:solidFill>
                  <a:srgbClr val="00D4E6"/>
                </a:solidFill>
                <a:latin typeface="Cambria" pitchFamily="34" charset="0"/>
                <a:ea typeface="Cambria" pitchFamily="34" charset="-122"/>
                <a:cs typeface="Cambria" pitchFamily="34" charset="-120"/>
              </a:rPr>
              <a:t>166</a:t>
            </a:r>
            <a:endParaRPr lang="en-US" sz="3000" dirty="0"/>
          </a:p>
        </p:txBody>
      </p:sp>
      <p:sp>
        <p:nvSpPr>
          <p:cNvPr id="14" name="Text 11"/>
          <p:cNvSpPr txBox="1"/>
          <p:nvPr/>
        </p:nvSpPr>
        <p:spPr>
          <a:xfrm>
            <a:off x="8942832" y="4892040"/>
            <a:ext cx="2377440" cy="64008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days a revoked contractor's</a:t>
            </a:r>
            <a:endParaRPr lang="en-US" sz="1150" dirty="0"/>
          </a:p>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admin account sat idle and live</a:t>
            </a:r>
            <a:endParaRPr lang="en-US" sz="1150" dirty="0"/>
          </a:p>
        </p:txBody>
      </p:sp>
      <p:sp>
        <p:nvSpPr>
          <p:cNvPr id="15" name="Text 12"/>
          <p:cNvSpPr txBox="1"/>
          <p:nvPr/>
        </p:nvSpPr>
        <p:spPr>
          <a:xfrm>
            <a:off x="640080" y="6327648"/>
            <a:ext cx="10881360" cy="274320"/>
          </a:xfrm>
          <a:prstGeom prst="rect">
            <a:avLst/>
          </a:prstGeom>
          <a:noFill/>
          <a:ln/>
        </p:spPr>
        <p:txBody>
          <a:bodyPr wrap="square" lIns="0" tIns="0" rIns="0" bIns="0" rtlCol="0" anchor="ctr"/>
          <a:lstStyle/>
          <a:p>
            <a:pPr indent="0" marL="0">
              <a:buNone/>
            </a:pPr>
            <a:r>
              <a:rPr lang="en-US" sz="850" spc="120" kern="0" dirty="0">
                <a:solidFill>
                  <a:srgbClr val="6B7A94"/>
                </a:solidFill>
                <a:latin typeface="Courier New" pitchFamily="34" charset="0"/>
                <a:ea typeface="Courier New" pitchFamily="34" charset="-122"/>
                <a:cs typeface="Courier New" pitchFamily="34" charset="-120"/>
              </a:rPr>
              <a:t>10 DISTINCT RULE CODES FIRED · CONTRACTOR_ADMIN, ADMIN_NOT_JUSTIFIED, DORMANT_ADMIN, ADMIN_DENSITY, ASSET_NO_OWNER, MOBILE_UNMANAGED …</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LIVE OUTPUT</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And the questionnaire nobody has started</a:t>
            </a:r>
            <a:endParaRPr lang="en-US" sz="3600" dirty="0"/>
          </a:p>
        </p:txBody>
      </p:sp>
      <p:sp>
        <p:nvSpPr>
          <p:cNvPr id="4" name="Shape 2"/>
          <p:cNvSpPr/>
          <p:nvPr/>
        </p:nvSpPr>
        <p:spPr>
          <a:xfrm>
            <a:off x="640080" y="1874520"/>
            <a:ext cx="5349240" cy="3566160"/>
          </a:xfrm>
          <a:prstGeom prst="roundRect">
            <a:avLst>
              <a:gd name="adj" fmla="val 1538"/>
            </a:avLst>
          </a:prstGeom>
          <a:solidFill>
            <a:srgbClr val="152743"/>
          </a:solidFill>
          <a:ln w="9525">
            <a:solidFill>
              <a:srgbClr val="1D3453"/>
            </a:solidFill>
            <a:prstDash val="solid"/>
          </a:ln>
        </p:spPr>
      </p:sp>
      <p:sp>
        <p:nvSpPr>
          <p:cNvPr id="5" name="Text 3"/>
          <p:cNvSpPr txBox="1"/>
          <p:nvPr/>
        </p:nvSpPr>
        <p:spPr>
          <a:xfrm>
            <a:off x="960120" y="2148840"/>
            <a:ext cx="2194560" cy="1188720"/>
          </a:xfrm>
          <a:prstGeom prst="rect">
            <a:avLst/>
          </a:prstGeom>
          <a:noFill/>
          <a:ln/>
        </p:spPr>
        <p:txBody>
          <a:bodyPr wrap="square" lIns="0" tIns="0" rIns="0" bIns="0" rtlCol="0" anchor="ctr"/>
          <a:lstStyle/>
          <a:p>
            <a:pPr indent="0" marL="0">
              <a:buNone/>
            </a:pPr>
            <a:r>
              <a:rPr lang="en-US" sz="7800" b="1" dirty="0">
                <a:solidFill>
                  <a:srgbClr val="E5484D"/>
                </a:solidFill>
                <a:latin typeface="Cambria" pitchFamily="34" charset="0"/>
                <a:ea typeface="Cambria" pitchFamily="34" charset="-122"/>
                <a:cs typeface="Cambria" pitchFamily="34" charset="-120"/>
              </a:rPr>
              <a:t>0</a:t>
            </a:r>
            <a:endParaRPr lang="en-US" sz="7800" dirty="0"/>
          </a:p>
        </p:txBody>
      </p:sp>
      <p:sp>
        <p:nvSpPr>
          <p:cNvPr id="6" name="Text 4"/>
          <p:cNvSpPr txBox="1"/>
          <p:nvPr/>
        </p:nvSpPr>
        <p:spPr>
          <a:xfrm>
            <a:off x="960120" y="3310128"/>
            <a:ext cx="4480560" cy="320040"/>
          </a:xfrm>
          <a:prstGeom prst="rect">
            <a:avLst/>
          </a:prstGeom>
          <a:noFill/>
          <a:ln/>
        </p:spPr>
        <p:txBody>
          <a:bodyPr wrap="square" lIns="0" tIns="0" rIns="0" bIns="0" rtlCol="0" anchor="ctr"/>
          <a:lstStyle/>
          <a:p>
            <a:pPr indent="0" marL="0">
              <a:buNone/>
            </a:pPr>
            <a:r>
              <a:rPr lang="en-US" sz="1800" dirty="0">
                <a:solidFill>
                  <a:srgbClr val="F2F5FA"/>
                </a:solidFill>
                <a:latin typeface="Cambria" pitchFamily="34" charset="0"/>
                <a:ea typeface="Cambria" pitchFamily="34" charset="-122"/>
                <a:cs typeface="Cambria" pitchFamily="34" charset="-120"/>
              </a:rPr>
              <a:t>of 65 questions answered</a:t>
            </a:r>
            <a:endParaRPr lang="en-US" sz="1800" dirty="0"/>
          </a:p>
        </p:txBody>
      </p:sp>
      <p:sp>
        <p:nvSpPr>
          <p:cNvPr id="7" name="Text 5"/>
          <p:cNvSpPr txBox="1"/>
          <p:nvPr/>
        </p:nvSpPr>
        <p:spPr>
          <a:xfrm>
            <a:off x="960120" y="3794760"/>
            <a:ext cx="4663440" cy="1371600"/>
          </a:xfrm>
          <a:prstGeom prst="rect">
            <a:avLst/>
          </a:prstGeom>
          <a:noFill/>
          <a:ln/>
        </p:spPr>
        <p:txBody>
          <a:bodyPr wrap="square" lIns="0" tIns="0" rIns="0" bIns="0" rtlCol="0" anchor="ctr"/>
          <a:lstStyle/>
          <a:p>
            <a:pPr indent="0" marL="0">
              <a:lnSpc>
                <a:spcPts val="1700"/>
              </a:lnSpc>
              <a:buNone/>
            </a:pPr>
            <a:r>
              <a:rPr lang="en-US" sz="1250" dirty="0">
                <a:solidFill>
                  <a:srgbClr val="8FA0BA"/>
                </a:solidFill>
                <a:latin typeface="Calibri" pitchFamily="34" charset="0"/>
                <a:ea typeface="Calibri" pitchFamily="34" charset="-122"/>
                <a:cs typeface="Calibri" pitchFamily="34" charset="-120"/>
              </a:rPr>
              <a:t>Across 14 topics — governance, third-party risk, privacy, data security, incident response, vulnerability management and more. Counted from the response column, not estimated. An unanswered question is shown as unanswered.</a:t>
            </a:r>
            <a:endParaRPr lang="en-US" sz="1250" dirty="0"/>
          </a:p>
        </p:txBody>
      </p:sp>
      <p:sp>
        <p:nvSpPr>
          <p:cNvPr id="8" name="Shape 6"/>
          <p:cNvSpPr/>
          <p:nvPr/>
        </p:nvSpPr>
        <p:spPr>
          <a:xfrm>
            <a:off x="6172200" y="1874520"/>
            <a:ext cx="5349240" cy="3566160"/>
          </a:xfrm>
          <a:prstGeom prst="roundRect">
            <a:avLst>
              <a:gd name="adj" fmla="val 1538"/>
            </a:avLst>
          </a:prstGeom>
          <a:solidFill>
            <a:srgbClr val="152743"/>
          </a:solidFill>
          <a:ln w="9525">
            <a:solidFill>
              <a:srgbClr val="1D3453"/>
            </a:solidFill>
            <a:prstDash val="solid"/>
          </a:ln>
        </p:spPr>
      </p:sp>
      <p:sp>
        <p:nvSpPr>
          <p:cNvPr id="9" name="Text 7"/>
          <p:cNvSpPr txBox="1"/>
          <p:nvPr/>
        </p:nvSpPr>
        <p:spPr>
          <a:xfrm>
            <a:off x="6492240" y="2148840"/>
            <a:ext cx="4754880" cy="274320"/>
          </a:xfrm>
          <a:prstGeom prst="rect">
            <a:avLst/>
          </a:prstGeom>
          <a:noFill/>
          <a:ln/>
        </p:spPr>
        <p:txBody>
          <a:bodyPr wrap="square" lIns="0" tIns="0" rIns="0" bIns="0" rtlCol="0" anchor="ctr"/>
          <a:lstStyle/>
          <a:p>
            <a:pPr indent="0" marL="0">
              <a:buNone/>
            </a:pPr>
            <a:r>
              <a:rPr lang="en-US" sz="1000" spc="180" kern="0" dirty="0">
                <a:solidFill>
                  <a:srgbClr val="00D4E6"/>
                </a:solidFill>
                <a:latin typeface="Courier New" pitchFamily="34" charset="0"/>
                <a:ea typeface="Courier New" pitchFamily="34" charset="-122"/>
                <a:cs typeface="Courier New" pitchFamily="34" charset="-120"/>
              </a:rPr>
              <a:t>BUT THE EVIDENCE EXISTS</a:t>
            </a:r>
            <a:endParaRPr lang="en-US" sz="1000" dirty="0"/>
          </a:p>
        </p:txBody>
      </p:sp>
      <p:sp>
        <p:nvSpPr>
          <p:cNvPr id="10" name="Text 8"/>
          <p:cNvSpPr txBox="1"/>
          <p:nvPr/>
        </p:nvSpPr>
        <p:spPr>
          <a:xfrm>
            <a:off x="6492240" y="2487168"/>
            <a:ext cx="4754880" cy="548640"/>
          </a:xfrm>
          <a:prstGeom prst="rect">
            <a:avLst/>
          </a:prstGeom>
          <a:noFill/>
          <a:ln/>
        </p:spPr>
        <p:txBody>
          <a:bodyPr wrap="square" lIns="0" tIns="0" rIns="0" bIns="0" rtlCol="0" anchor="ctr"/>
          <a:lstStyle/>
          <a:p>
            <a:pPr indent="0" marL="0">
              <a:lnSpc>
                <a:spcPts val="2200"/>
              </a:lnSpc>
              <a:buNone/>
            </a:pPr>
            <a:r>
              <a:rPr lang="en-US" sz="1600" dirty="0">
                <a:solidFill>
                  <a:srgbClr val="F2F5FA"/>
                </a:solidFill>
                <a:latin typeface="Cambria" pitchFamily="34" charset="0"/>
                <a:ea typeface="Cambria" pitchFamily="34" charset="-122"/>
                <a:cs typeface="Cambria" pitchFamily="34" charset="-120"/>
              </a:rPr>
              <a:t>Every one of the 14 topics already maps to at least one document in the corpus.</a:t>
            </a:r>
            <a:endParaRPr lang="en-US" sz="1600" dirty="0"/>
          </a:p>
        </p:txBody>
      </p:sp>
      <p:sp>
        <p:nvSpPr>
          <p:cNvPr id="11" name="Text 9"/>
          <p:cNvSpPr txBox="1"/>
          <p:nvPr/>
        </p:nvSpPr>
        <p:spPr>
          <a:xfrm>
            <a:off x="6492240" y="3200400"/>
            <a:ext cx="4754880" cy="2103120"/>
          </a:xfrm>
          <a:prstGeom prst="rect">
            <a:avLst/>
          </a:prstGeom>
          <a:noFill/>
          <a:ln/>
        </p:spPr>
        <p:txBody>
          <a:bodyPr wrap="square" lIns="0" tIns="0" rIns="0" bIns="0" rtlCol="0" anchor="ctr"/>
          <a:lstStyle/>
          <a:p>
            <a:pPr indent="0" marL="0">
              <a:lnSpc>
                <a:spcPts val="1600"/>
              </a:lnSpc>
              <a:buNone/>
            </a:pPr>
            <a:r>
              <a:rPr lang="en-US" sz="1150" b="1" dirty="0">
                <a:solidFill>
                  <a:srgbClr val="F2F5FA"/>
                </a:solidFill>
                <a:latin typeface="Calibri" pitchFamily="34" charset="0"/>
                <a:ea typeface="Calibri" pitchFamily="34" charset="-122"/>
                <a:cs typeface="Calibri" pitchFamily="34" charset="-120"/>
              </a:rPr>
              <a:t>Vulnerability Management</a:t>
            </a:r>
            <a:endParaRPr lang="en-US" sz="1150" dirty="0"/>
          </a:p>
          <a:p>
            <a:pPr indent="0" marL="0">
              <a:lnSpc>
                <a:spcPts val="1600"/>
              </a:lnSpc>
              <a:buNone/>
            </a:pPr>
            <a:r>
              <a:rPr lang="en-US" sz="1150" dirty="0">
                <a:solidFill>
                  <a:srgbClr val="8FA0BA"/>
                </a:solidFill>
                <a:latin typeface="Calibri" pitchFamily="34" charset="0"/>
                <a:ea typeface="Calibri" pitchFamily="34" charset="-122"/>
                <a:cs typeface="Calibri" pitchFamily="34" charset="-120"/>
              </a:rPr>
              <a:t>→ vulnerability_and_patch_management_policy · VAPT Report 01
</a:t>
            </a:r>
            <a:endParaRPr lang="en-US" sz="1150" dirty="0"/>
          </a:p>
          <a:p>
            <a:pPr indent="0" marL="0">
              <a:lnSpc>
                <a:spcPts val="1600"/>
              </a:lnSpc>
              <a:buNone/>
            </a:pPr>
            <a:r>
              <a:rPr lang="en-US" sz="1150" b="1" dirty="0">
                <a:solidFill>
                  <a:srgbClr val="F2F5FA"/>
                </a:solidFill>
                <a:latin typeface="Calibri" pitchFamily="34" charset="0"/>
                <a:ea typeface="Calibri" pitchFamily="34" charset="-122"/>
                <a:cs typeface="Calibri" pitchFamily="34" charset="-120"/>
              </a:rPr>
              <a:t>Business Continuity</a:t>
            </a:r>
            <a:endParaRPr lang="en-US" sz="1150" dirty="0"/>
          </a:p>
          <a:p>
            <a:pPr indent="0" marL="0">
              <a:lnSpc>
                <a:spcPts val="1600"/>
              </a:lnSpc>
              <a:buNone/>
            </a:pPr>
            <a:r>
              <a:rPr lang="en-US" sz="1150" dirty="0">
                <a:solidFill>
                  <a:srgbClr val="8FA0BA"/>
                </a:solidFill>
                <a:latin typeface="Calibri" pitchFamily="34" charset="0"/>
                <a:ea typeface="Calibri" pitchFamily="34" charset="-122"/>
                <a:cs typeface="Calibri" pitchFamily="34" charset="-120"/>
              </a:rPr>
              <a:t>→ business_continuity_policy · BCP_DR_Plan_Solsphere
</a:t>
            </a:r>
            <a:endParaRPr lang="en-US" sz="1150" dirty="0"/>
          </a:p>
          <a:p>
            <a:pPr indent="0" marL="0">
              <a:lnSpc>
                <a:spcPts val="1600"/>
              </a:lnSpc>
              <a:buNone/>
            </a:pPr>
            <a:r>
              <a:rPr lang="en-US" sz="1150" b="1" dirty="0">
                <a:solidFill>
                  <a:srgbClr val="F2F5FA"/>
                </a:solidFill>
                <a:latin typeface="Calibri" pitchFamily="34" charset="0"/>
                <a:ea typeface="Calibri" pitchFamily="34" charset="-122"/>
                <a:cs typeface="Calibri" pitchFamily="34" charset="-120"/>
              </a:rPr>
              <a:t>Network &amp; Endpoint Security</a:t>
            </a:r>
            <a:endParaRPr lang="en-US" sz="1150" dirty="0"/>
          </a:p>
          <a:p>
            <a:pPr indent="0" marL="0">
              <a:lnSpc>
                <a:spcPts val="1600"/>
              </a:lnSpc>
              <a:buNone/>
            </a:pPr>
            <a:r>
              <a:rPr lang="en-US" sz="1150" dirty="0">
                <a:solidFill>
                  <a:srgbClr val="8FA0BA"/>
                </a:solidFill>
                <a:latin typeface="Calibri" pitchFamily="34" charset="0"/>
                <a:ea typeface="Calibri" pitchFamily="34" charset="-122"/>
                <a:cs typeface="Calibri" pitchFamily="34" charset="-120"/>
              </a:rPr>
              <a:t>→ network_architecture_diagrams · network-segmentation-diagram</a:t>
            </a:r>
            <a:endParaRPr lang="en-US" sz="1150" dirty="0"/>
          </a:p>
        </p:txBody>
      </p:sp>
      <p:sp>
        <p:nvSpPr>
          <p:cNvPr id="12" name="Text 10"/>
          <p:cNvSpPr txBox="1"/>
          <p:nvPr/>
        </p:nvSpPr>
        <p:spPr>
          <a:xfrm>
            <a:off x="640080" y="5669280"/>
            <a:ext cx="10881360" cy="640080"/>
          </a:xfrm>
          <a:prstGeom prst="rect">
            <a:avLst/>
          </a:prstGeom>
          <a:noFill/>
          <a:ln/>
        </p:spPr>
        <p:txBody>
          <a:bodyPr wrap="square" lIns="0" tIns="0" rIns="0" bIns="0" rtlCol="0" anchor="ctr"/>
          <a:lstStyle/>
          <a:p>
            <a:pPr indent="0" marL="0">
              <a:lnSpc>
                <a:spcPts val="2300"/>
              </a:lnSpc>
              <a:buNone/>
            </a:pPr>
            <a:r>
              <a:rPr lang="en-US" sz="1600" i="1" dirty="0">
                <a:solidFill>
                  <a:srgbClr val="C6A24B"/>
                </a:solidFill>
                <a:latin typeface="Cambria" pitchFamily="34" charset="0"/>
                <a:ea typeface="Cambria" pitchFamily="34" charset="-122"/>
                <a:cs typeface="Cambria" pitchFamily="34" charset="-120"/>
              </a:rPr>
              <a:t>The answers are not missing. They are unassembled. That gap — evidence that exists but has never been connected to the question it answers — is most of what a compliance review actually costs.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WHO BUYS THIS</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Whoever owns a questionnaire they didn’t write</a:t>
            </a:r>
            <a:endParaRPr lang="en-US" sz="3600" dirty="0"/>
          </a:p>
        </p:txBody>
      </p:sp>
      <p:sp>
        <p:nvSpPr>
          <p:cNvPr id="4" name="Text 2"/>
          <p:cNvSpPr txBox="1"/>
          <p:nvPr/>
        </p:nvSpPr>
        <p:spPr>
          <a:xfrm>
            <a:off x="640080" y="1572768"/>
            <a:ext cx="10881360" cy="685800"/>
          </a:xfrm>
          <a:prstGeom prst="rect">
            <a:avLst/>
          </a:prstGeom>
          <a:noFill/>
          <a:ln/>
        </p:spPr>
        <p:txBody>
          <a:bodyPr wrap="square" lIns="0" tIns="0" rIns="0" bIns="0" rtlCol="0" anchor="ctr"/>
          <a:lstStyle/>
          <a:p>
            <a:pPr indent="0" marL="0">
              <a:lnSpc>
                <a:spcPts val="2200"/>
              </a:lnSpc>
              <a:buNone/>
            </a:pPr>
            <a:r>
              <a:rPr lang="en-US" sz="1500" dirty="0">
                <a:solidFill>
                  <a:srgbClr val="8FA0BA"/>
                </a:solidFill>
                <a:latin typeface="Calibri" pitchFamily="34" charset="0"/>
                <a:ea typeface="Calibri" pitchFamily="34" charset="-122"/>
                <a:cs typeface="Calibri" pitchFamily="34" charset="-120"/>
              </a:rPr>
              <a:t>The buyer is whoever is personally accountable when the evidence does not add up — and does not have a compliance department behind them.</a:t>
            </a:r>
            <a:endParaRPr lang="en-US" sz="1500" dirty="0"/>
          </a:p>
        </p:txBody>
      </p:sp>
      <p:sp>
        <p:nvSpPr>
          <p:cNvPr id="5" name="Shape 3"/>
          <p:cNvSpPr/>
          <p:nvPr/>
        </p:nvSpPr>
        <p:spPr>
          <a:xfrm>
            <a:off x="640080" y="2606040"/>
            <a:ext cx="10881360" cy="658368"/>
          </a:xfrm>
          <a:prstGeom prst="roundRect">
            <a:avLst>
              <a:gd name="adj" fmla="val 8333"/>
            </a:avLst>
          </a:prstGeom>
          <a:solidFill>
            <a:srgbClr val="13304F"/>
          </a:solidFill>
          <a:ln w="9525">
            <a:solidFill>
              <a:srgbClr val="1D3453"/>
            </a:solidFill>
            <a:prstDash val="solid"/>
          </a:ln>
        </p:spPr>
      </p:sp>
      <p:sp>
        <p:nvSpPr>
          <p:cNvPr id="6" name="Text 4"/>
          <p:cNvSpPr txBox="1"/>
          <p:nvPr/>
        </p:nvSpPr>
        <p:spPr>
          <a:xfrm>
            <a:off x="868680" y="2660904"/>
            <a:ext cx="1371600" cy="201168"/>
          </a:xfrm>
          <a:prstGeom prst="rect">
            <a:avLst/>
          </a:prstGeom>
          <a:noFill/>
          <a:ln/>
        </p:spPr>
        <p:txBody>
          <a:bodyPr wrap="square" lIns="0" tIns="0" rIns="0" bIns="0" rtlCol="0" anchor="ctr"/>
          <a:lstStyle/>
          <a:p>
            <a:pPr indent="0" marL="0">
              <a:buNone/>
            </a:pPr>
            <a:r>
              <a:rPr lang="en-US" sz="800" spc="140" kern="0" dirty="0">
                <a:solidFill>
                  <a:srgbClr val="00D4E6"/>
                </a:solidFill>
                <a:latin typeface="Courier New" pitchFamily="34" charset="0"/>
                <a:ea typeface="Courier New" pitchFamily="34" charset="-122"/>
                <a:cs typeface="Courier New" pitchFamily="34" charset="-120"/>
              </a:rPr>
              <a:t>BEACHHEAD</a:t>
            </a:r>
            <a:endParaRPr lang="en-US" sz="800" dirty="0"/>
          </a:p>
        </p:txBody>
      </p:sp>
      <p:sp>
        <p:nvSpPr>
          <p:cNvPr id="7" name="Text 5"/>
          <p:cNvSpPr txBox="1"/>
          <p:nvPr/>
        </p:nvSpPr>
        <p:spPr>
          <a:xfrm>
            <a:off x="868680" y="2862072"/>
            <a:ext cx="4023360" cy="310896"/>
          </a:xfrm>
          <a:prstGeom prst="rect">
            <a:avLst/>
          </a:prstGeom>
          <a:noFill/>
          <a:ln/>
        </p:spPr>
        <p:txBody>
          <a:bodyPr wrap="square" lIns="0" tIns="0" rIns="0" bIns="0" rtlCol="0" anchor="ctr"/>
          <a:lstStyle/>
          <a:p>
            <a:pPr indent="0" marL="0">
              <a:buNone/>
            </a:pPr>
            <a:r>
              <a:rPr lang="en-US" sz="1450" b="1" dirty="0">
                <a:solidFill>
                  <a:srgbClr val="00D4E6"/>
                </a:solidFill>
                <a:latin typeface="Cambria" pitchFamily="34" charset="0"/>
                <a:ea typeface="Cambria" pitchFamily="34" charset="-122"/>
                <a:cs typeface="Cambria" pitchFamily="34" charset="-120"/>
              </a:rPr>
              <a:t>vCISO and fractional compliance practices</a:t>
            </a:r>
            <a:endParaRPr lang="en-US" sz="1450" dirty="0"/>
          </a:p>
        </p:txBody>
      </p:sp>
      <p:sp>
        <p:nvSpPr>
          <p:cNvPr id="8" name="Text 6"/>
          <p:cNvSpPr txBox="1"/>
          <p:nvPr/>
        </p:nvSpPr>
        <p:spPr>
          <a:xfrm>
            <a:off x="5074920" y="2660904"/>
            <a:ext cx="6217920" cy="548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Run the same review across many clients. Their margin is analyst hours, so a tool that cuts the correlation work converts directly to capacity.</a:t>
            </a:r>
            <a:endParaRPr lang="en-US" sz="1150" dirty="0"/>
          </a:p>
        </p:txBody>
      </p:sp>
      <p:sp>
        <p:nvSpPr>
          <p:cNvPr id="9" name="Shape 7"/>
          <p:cNvSpPr/>
          <p:nvPr/>
        </p:nvSpPr>
        <p:spPr>
          <a:xfrm>
            <a:off x="640080" y="3364992"/>
            <a:ext cx="10881360" cy="658368"/>
          </a:xfrm>
          <a:prstGeom prst="roundRect">
            <a:avLst>
              <a:gd name="adj" fmla="val 8333"/>
            </a:avLst>
          </a:prstGeom>
          <a:solidFill>
            <a:srgbClr val="152743"/>
          </a:solidFill>
          <a:ln w="9525">
            <a:solidFill>
              <a:srgbClr val="1D3453"/>
            </a:solidFill>
            <a:prstDash val="solid"/>
          </a:ln>
        </p:spPr>
      </p:sp>
      <p:sp>
        <p:nvSpPr>
          <p:cNvPr id="10" name="Text 8"/>
          <p:cNvSpPr txBox="1"/>
          <p:nvPr/>
        </p:nvSpPr>
        <p:spPr>
          <a:xfrm>
            <a:off x="868680" y="3483864"/>
            <a:ext cx="4023360" cy="310896"/>
          </a:xfrm>
          <a:prstGeom prst="rect">
            <a:avLst/>
          </a:prstGeom>
          <a:noFill/>
          <a:ln/>
        </p:spPr>
        <p:txBody>
          <a:bodyPr wrap="square" lIns="0" tIns="0" rIns="0" bIns="0" rtlCol="0" anchor="ctr"/>
          <a:lstStyle/>
          <a:p>
            <a:pPr indent="0" marL="0">
              <a:buNone/>
            </a:pPr>
            <a:r>
              <a:rPr lang="en-US" sz="1450" b="1" dirty="0">
                <a:solidFill>
                  <a:srgbClr val="F2F5FA"/>
                </a:solidFill>
                <a:latin typeface="Cambria" pitchFamily="34" charset="0"/>
                <a:ea typeface="Cambria" pitchFamily="34" charset="-122"/>
                <a:cs typeface="Cambria" pitchFamily="34" charset="-120"/>
              </a:rPr>
              <a:t>Series A–C companies chasing enterprise deals</a:t>
            </a:r>
            <a:endParaRPr lang="en-US" sz="1450" dirty="0"/>
          </a:p>
        </p:txBody>
      </p:sp>
      <p:sp>
        <p:nvSpPr>
          <p:cNvPr id="11" name="Text 9"/>
          <p:cNvSpPr txBox="1"/>
          <p:nvPr/>
        </p:nvSpPr>
        <p:spPr>
          <a:xfrm>
            <a:off x="5074920" y="3419856"/>
            <a:ext cx="6217920" cy="548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A security questionnaire is blocking a contract. No full-time GRC hire; the security lead or a founder is doing this personally, at night.</a:t>
            </a:r>
            <a:endParaRPr lang="en-US" sz="1150" dirty="0"/>
          </a:p>
        </p:txBody>
      </p:sp>
      <p:sp>
        <p:nvSpPr>
          <p:cNvPr id="12" name="Shape 10"/>
          <p:cNvSpPr/>
          <p:nvPr/>
        </p:nvSpPr>
        <p:spPr>
          <a:xfrm>
            <a:off x="640080" y="4123944"/>
            <a:ext cx="10881360" cy="658368"/>
          </a:xfrm>
          <a:prstGeom prst="roundRect">
            <a:avLst>
              <a:gd name="adj" fmla="val 8333"/>
            </a:avLst>
          </a:prstGeom>
          <a:solidFill>
            <a:srgbClr val="152743"/>
          </a:solidFill>
          <a:ln w="9525">
            <a:solidFill>
              <a:srgbClr val="1D3453"/>
            </a:solidFill>
            <a:prstDash val="solid"/>
          </a:ln>
        </p:spPr>
      </p:sp>
      <p:sp>
        <p:nvSpPr>
          <p:cNvPr id="13" name="Text 11"/>
          <p:cNvSpPr txBox="1"/>
          <p:nvPr/>
        </p:nvSpPr>
        <p:spPr>
          <a:xfrm>
            <a:off x="868680" y="4242816"/>
            <a:ext cx="4023360" cy="310896"/>
          </a:xfrm>
          <a:prstGeom prst="rect">
            <a:avLst/>
          </a:prstGeom>
          <a:noFill/>
          <a:ln/>
        </p:spPr>
        <p:txBody>
          <a:bodyPr wrap="square" lIns="0" tIns="0" rIns="0" bIns="0" rtlCol="0" anchor="ctr"/>
          <a:lstStyle/>
          <a:p>
            <a:pPr indent="0" marL="0">
              <a:buNone/>
            </a:pPr>
            <a:r>
              <a:rPr lang="en-US" sz="1450" b="1" dirty="0">
                <a:solidFill>
                  <a:srgbClr val="F2F5FA"/>
                </a:solidFill>
                <a:latin typeface="Cambria" pitchFamily="34" charset="0"/>
                <a:ea typeface="Cambria" pitchFamily="34" charset="-122"/>
                <a:cs typeface="Cambria" pitchFamily="34" charset="-120"/>
              </a:rPr>
              <a:t>Third-party risk teams at mid-market financials</a:t>
            </a:r>
            <a:endParaRPr lang="en-US" sz="1450" dirty="0"/>
          </a:p>
        </p:txBody>
      </p:sp>
      <p:sp>
        <p:nvSpPr>
          <p:cNvPr id="14" name="Text 12"/>
          <p:cNvSpPr txBox="1"/>
          <p:nvPr/>
        </p:nvSpPr>
        <p:spPr>
          <a:xfrm>
            <a:off x="5074920" y="4178808"/>
            <a:ext cx="6217920" cy="548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Reviewing dozens of vendor packets a quarter against the same control set, with personal sign-off on each.</a:t>
            </a:r>
            <a:endParaRPr lang="en-US" sz="1150" dirty="0"/>
          </a:p>
        </p:txBody>
      </p:sp>
      <p:sp>
        <p:nvSpPr>
          <p:cNvPr id="15" name="Shape 13"/>
          <p:cNvSpPr/>
          <p:nvPr/>
        </p:nvSpPr>
        <p:spPr>
          <a:xfrm>
            <a:off x="640080" y="4882896"/>
            <a:ext cx="10881360" cy="658368"/>
          </a:xfrm>
          <a:prstGeom prst="roundRect">
            <a:avLst>
              <a:gd name="adj" fmla="val 8333"/>
            </a:avLst>
          </a:prstGeom>
          <a:solidFill>
            <a:srgbClr val="152743"/>
          </a:solidFill>
          <a:ln w="9525">
            <a:solidFill>
              <a:srgbClr val="1D3453"/>
            </a:solidFill>
            <a:prstDash val="solid"/>
          </a:ln>
        </p:spPr>
      </p:sp>
      <p:sp>
        <p:nvSpPr>
          <p:cNvPr id="16" name="Text 14"/>
          <p:cNvSpPr txBox="1"/>
          <p:nvPr/>
        </p:nvSpPr>
        <p:spPr>
          <a:xfrm>
            <a:off x="868680" y="5001768"/>
            <a:ext cx="4023360" cy="310896"/>
          </a:xfrm>
          <a:prstGeom prst="rect">
            <a:avLst/>
          </a:prstGeom>
          <a:noFill/>
          <a:ln/>
        </p:spPr>
        <p:txBody>
          <a:bodyPr wrap="square" lIns="0" tIns="0" rIns="0" bIns="0" rtlCol="0" anchor="ctr"/>
          <a:lstStyle/>
          <a:p>
            <a:pPr indent="0" marL="0">
              <a:buNone/>
            </a:pPr>
            <a:r>
              <a:rPr lang="en-US" sz="1450" b="1" dirty="0">
                <a:solidFill>
                  <a:srgbClr val="F2F5FA"/>
                </a:solidFill>
                <a:latin typeface="Cambria" pitchFamily="34" charset="0"/>
                <a:ea typeface="Cambria" pitchFamily="34" charset="-122"/>
                <a:cs typeface="Cambria" pitchFamily="34" charset="-120"/>
              </a:rPr>
              <a:t>Internal audit and IT GRC in regulated firms</a:t>
            </a:r>
            <a:endParaRPr lang="en-US" sz="1450" dirty="0"/>
          </a:p>
        </p:txBody>
      </p:sp>
      <p:sp>
        <p:nvSpPr>
          <p:cNvPr id="17" name="Text 15"/>
          <p:cNvSpPr txBox="1"/>
          <p:nvPr/>
        </p:nvSpPr>
        <p:spPr>
          <a:xfrm>
            <a:off x="5074920" y="4937760"/>
            <a:ext cx="6217920" cy="548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Need the evidence trail more than the finding. Value is the reconstructable record, not the alert.</a:t>
            </a:r>
            <a:endParaRPr lang="en-US" sz="1150" dirty="0"/>
          </a:p>
        </p:txBody>
      </p:sp>
      <p:sp>
        <p:nvSpPr>
          <p:cNvPr id="18" name="Shape 16"/>
          <p:cNvSpPr/>
          <p:nvPr/>
        </p:nvSpPr>
        <p:spPr>
          <a:xfrm>
            <a:off x="640080" y="5641848"/>
            <a:ext cx="10881360" cy="658368"/>
          </a:xfrm>
          <a:prstGeom prst="roundRect">
            <a:avLst>
              <a:gd name="adj" fmla="val 8333"/>
            </a:avLst>
          </a:prstGeom>
          <a:solidFill>
            <a:srgbClr val="152743"/>
          </a:solidFill>
          <a:ln w="9525">
            <a:solidFill>
              <a:srgbClr val="1D3453"/>
            </a:solidFill>
            <a:prstDash val="solid"/>
          </a:ln>
        </p:spPr>
      </p:sp>
      <p:sp>
        <p:nvSpPr>
          <p:cNvPr id="19" name="Text 17"/>
          <p:cNvSpPr txBox="1"/>
          <p:nvPr/>
        </p:nvSpPr>
        <p:spPr>
          <a:xfrm>
            <a:off x="868680" y="5760720"/>
            <a:ext cx="4023360" cy="310896"/>
          </a:xfrm>
          <a:prstGeom prst="rect">
            <a:avLst/>
          </a:prstGeom>
          <a:noFill/>
          <a:ln/>
        </p:spPr>
        <p:txBody>
          <a:bodyPr wrap="square" lIns="0" tIns="0" rIns="0" bIns="0" rtlCol="0" anchor="ctr"/>
          <a:lstStyle/>
          <a:p>
            <a:pPr indent="0" marL="0">
              <a:buNone/>
            </a:pPr>
            <a:r>
              <a:rPr lang="en-US" sz="1450" b="1" dirty="0">
                <a:solidFill>
                  <a:srgbClr val="F2F5FA"/>
                </a:solidFill>
                <a:latin typeface="Cambria" pitchFamily="34" charset="0"/>
                <a:ea typeface="Cambria" pitchFamily="34" charset="-122"/>
                <a:cs typeface="Cambria" pitchFamily="34" charset="-120"/>
              </a:rPr>
              <a:t>PE and VC operating partners</a:t>
            </a:r>
            <a:endParaRPr lang="en-US" sz="1450" dirty="0"/>
          </a:p>
        </p:txBody>
      </p:sp>
      <p:sp>
        <p:nvSpPr>
          <p:cNvPr id="20" name="Text 18"/>
          <p:cNvSpPr txBox="1"/>
          <p:nvPr/>
        </p:nvSpPr>
        <p:spPr>
          <a:xfrm>
            <a:off x="5074920" y="5696712"/>
            <a:ext cx="6217920" cy="548640"/>
          </a:xfrm>
          <a:prstGeom prst="rect">
            <a:avLst/>
          </a:prstGeom>
          <a:noFill/>
          <a:ln/>
        </p:spPr>
        <p:txBody>
          <a:bodyPr wrap="square" lIns="0" tIns="0" rIns="0" bIns="0" rtlCol="0" anchor="ctr"/>
          <a:lstStyle/>
          <a:p>
            <a:pPr indent="0" marL="0">
              <a:lnSpc>
                <a:spcPts val="1500"/>
              </a:lnSpc>
              <a:buNone/>
            </a:pPr>
            <a:r>
              <a:rPr lang="en-US" sz="1150" dirty="0">
                <a:solidFill>
                  <a:srgbClr val="8FA0BA"/>
                </a:solidFill>
                <a:latin typeface="Calibri" pitchFamily="34" charset="0"/>
                <a:ea typeface="Calibri" pitchFamily="34" charset="-122"/>
                <a:cs typeface="Calibri" pitchFamily="34" charset="-120"/>
              </a:rPr>
              <a:t>Portfolio-wide diligence and post-close remediation across companies with inconsistent hygiene.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WHY THIS MATTERS NOW</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The burden is shifting onto the company</a:t>
            </a:r>
            <a:endParaRPr lang="en-US" sz="3600" dirty="0"/>
          </a:p>
        </p:txBody>
      </p:sp>
      <p:sp>
        <p:nvSpPr>
          <p:cNvPr id="4" name="Shape 2"/>
          <p:cNvSpPr/>
          <p:nvPr/>
        </p:nvSpPr>
        <p:spPr>
          <a:xfrm>
            <a:off x="640080" y="2148840"/>
            <a:ext cx="5285232" cy="1719072"/>
          </a:xfrm>
          <a:prstGeom prst="roundRect">
            <a:avLst>
              <a:gd name="adj" fmla="val 3191"/>
            </a:avLst>
          </a:prstGeom>
          <a:solidFill>
            <a:srgbClr val="152743"/>
          </a:solidFill>
          <a:ln w="9525">
            <a:solidFill>
              <a:srgbClr val="1D3453"/>
            </a:solidFill>
            <a:prstDash val="solid"/>
          </a:ln>
        </p:spPr>
      </p:sp>
      <p:sp>
        <p:nvSpPr>
          <p:cNvPr id="5" name="Text 3"/>
          <p:cNvSpPr txBox="1"/>
          <p:nvPr/>
        </p:nvSpPr>
        <p:spPr>
          <a:xfrm>
            <a:off x="932688" y="2368296"/>
            <a:ext cx="4709160" cy="274320"/>
          </a:xfrm>
          <a:prstGeom prst="rect">
            <a:avLst/>
          </a:prstGeom>
          <a:noFill/>
          <a:ln/>
        </p:spPr>
        <p:txBody>
          <a:bodyPr wrap="square" lIns="0" tIns="0" rIns="0" bIns="0" rtlCol="0" anchor="ctr"/>
          <a:lstStyle/>
          <a:p>
            <a:pPr indent="0" marL="0">
              <a:buNone/>
            </a:pPr>
            <a:r>
              <a:rPr lang="en-US" sz="950" b="1" spc="140" kern="0" dirty="0">
                <a:solidFill>
                  <a:srgbClr val="00D4E6"/>
                </a:solidFill>
                <a:latin typeface="Courier New" pitchFamily="34" charset="0"/>
                <a:ea typeface="Courier New" pitchFamily="34" charset="-122"/>
                <a:cs typeface="Courier New" pitchFamily="34" charset="-120"/>
              </a:rPr>
              <a:t>FAILURE TO PREVENT</a:t>
            </a:r>
            <a:endParaRPr lang="en-US" sz="950" dirty="0"/>
          </a:p>
        </p:txBody>
      </p:sp>
      <p:sp>
        <p:nvSpPr>
          <p:cNvPr id="6" name="Text 4"/>
          <p:cNvSpPr txBox="1"/>
          <p:nvPr/>
        </p:nvSpPr>
        <p:spPr>
          <a:xfrm>
            <a:off x="932688" y="2734056"/>
            <a:ext cx="4709160" cy="1005840"/>
          </a:xfrm>
          <a:prstGeom prst="rect">
            <a:avLst/>
          </a:prstGeom>
          <a:noFill/>
          <a:ln/>
        </p:spPr>
        <p:txBody>
          <a:bodyPr wrap="square" lIns="0" tIns="0" rIns="0" bIns="0" rtlCol="0" anchor="ctr"/>
          <a:lstStyle/>
          <a:p>
            <a:pPr indent="0" marL="0">
              <a:lnSpc>
                <a:spcPts val="1700"/>
              </a:lnSpc>
              <a:buNone/>
            </a:pPr>
            <a:r>
              <a:rPr lang="en-US" sz="1250" dirty="0">
                <a:solidFill>
                  <a:srgbClr val="F2F5FA"/>
                </a:solidFill>
                <a:latin typeface="Calibri" pitchFamily="34" charset="0"/>
                <a:ea typeface="Calibri" pitchFamily="34" charset="-122"/>
                <a:cs typeface="Calibri" pitchFamily="34" charset="-120"/>
              </a:rPr>
              <a:t>The UK's failure-to-prevent-fraud offence inverts the burden: the company must show it had reasonable procedures. An unassembled folder of policies is not a procedure.</a:t>
            </a:r>
            <a:endParaRPr lang="en-US" sz="1250" dirty="0"/>
          </a:p>
        </p:txBody>
      </p:sp>
      <p:sp>
        <p:nvSpPr>
          <p:cNvPr id="7" name="Shape 5"/>
          <p:cNvSpPr/>
          <p:nvPr/>
        </p:nvSpPr>
        <p:spPr>
          <a:xfrm>
            <a:off x="6236208" y="2148840"/>
            <a:ext cx="5285232" cy="1719072"/>
          </a:xfrm>
          <a:prstGeom prst="roundRect">
            <a:avLst>
              <a:gd name="adj" fmla="val 3191"/>
            </a:avLst>
          </a:prstGeom>
          <a:solidFill>
            <a:srgbClr val="152743"/>
          </a:solidFill>
          <a:ln w="9525">
            <a:solidFill>
              <a:srgbClr val="1D3453"/>
            </a:solidFill>
            <a:prstDash val="solid"/>
          </a:ln>
        </p:spPr>
      </p:sp>
      <p:sp>
        <p:nvSpPr>
          <p:cNvPr id="8" name="Text 6"/>
          <p:cNvSpPr txBox="1"/>
          <p:nvPr/>
        </p:nvSpPr>
        <p:spPr>
          <a:xfrm>
            <a:off x="6528816" y="2368296"/>
            <a:ext cx="4709160" cy="274320"/>
          </a:xfrm>
          <a:prstGeom prst="rect">
            <a:avLst/>
          </a:prstGeom>
          <a:noFill/>
          <a:ln/>
        </p:spPr>
        <p:txBody>
          <a:bodyPr wrap="square" lIns="0" tIns="0" rIns="0" bIns="0" rtlCol="0" anchor="ctr"/>
          <a:lstStyle/>
          <a:p>
            <a:pPr indent="0" marL="0">
              <a:buNone/>
            </a:pPr>
            <a:r>
              <a:rPr lang="en-US" sz="950" b="1" spc="140" kern="0" dirty="0">
                <a:solidFill>
                  <a:srgbClr val="00D4E6"/>
                </a:solidFill>
                <a:latin typeface="Courier New" pitchFamily="34" charset="0"/>
                <a:ea typeface="Courier New" pitchFamily="34" charset="-122"/>
                <a:cs typeface="Courier New" pitchFamily="34" charset="-120"/>
              </a:rPr>
              <a:t>CONTINUOUS, NOT PERIODIC</a:t>
            </a:r>
            <a:endParaRPr lang="en-US" sz="950" dirty="0"/>
          </a:p>
        </p:txBody>
      </p:sp>
      <p:sp>
        <p:nvSpPr>
          <p:cNvPr id="9" name="Text 7"/>
          <p:cNvSpPr txBox="1"/>
          <p:nvPr/>
        </p:nvSpPr>
        <p:spPr>
          <a:xfrm>
            <a:off x="6528816" y="2734056"/>
            <a:ext cx="4709160" cy="1005840"/>
          </a:xfrm>
          <a:prstGeom prst="rect">
            <a:avLst/>
          </a:prstGeom>
          <a:noFill/>
          <a:ln/>
        </p:spPr>
        <p:txBody>
          <a:bodyPr wrap="square" lIns="0" tIns="0" rIns="0" bIns="0" rtlCol="0" anchor="ctr"/>
          <a:lstStyle/>
          <a:p>
            <a:pPr indent="0" marL="0">
              <a:lnSpc>
                <a:spcPts val="1700"/>
              </a:lnSpc>
              <a:buNone/>
            </a:pPr>
            <a:r>
              <a:rPr lang="en-US" sz="1250" dirty="0">
                <a:solidFill>
                  <a:srgbClr val="F2F5FA"/>
                </a:solidFill>
                <a:latin typeface="Calibri" pitchFamily="34" charset="0"/>
                <a:ea typeface="Calibri" pitchFamily="34" charset="-122"/>
                <a:cs typeface="Calibri" pitchFamily="34" charset="-120"/>
              </a:rPr>
              <a:t>Supervisors are moving from periodic review to trigger-driven profiles. A quarterly access review no longer meets the expectation it was designed for.</a:t>
            </a:r>
            <a:endParaRPr lang="en-US" sz="1250" dirty="0"/>
          </a:p>
        </p:txBody>
      </p:sp>
      <p:sp>
        <p:nvSpPr>
          <p:cNvPr id="10" name="Shape 8"/>
          <p:cNvSpPr/>
          <p:nvPr/>
        </p:nvSpPr>
        <p:spPr>
          <a:xfrm>
            <a:off x="640080" y="4114800"/>
            <a:ext cx="5285232" cy="1719072"/>
          </a:xfrm>
          <a:prstGeom prst="roundRect">
            <a:avLst>
              <a:gd name="adj" fmla="val 3191"/>
            </a:avLst>
          </a:prstGeom>
          <a:solidFill>
            <a:srgbClr val="152743"/>
          </a:solidFill>
          <a:ln w="9525">
            <a:solidFill>
              <a:srgbClr val="1D3453"/>
            </a:solidFill>
            <a:prstDash val="solid"/>
          </a:ln>
        </p:spPr>
      </p:sp>
      <p:sp>
        <p:nvSpPr>
          <p:cNvPr id="11" name="Text 9"/>
          <p:cNvSpPr txBox="1"/>
          <p:nvPr/>
        </p:nvSpPr>
        <p:spPr>
          <a:xfrm>
            <a:off x="932688" y="4334256"/>
            <a:ext cx="4709160" cy="274320"/>
          </a:xfrm>
          <a:prstGeom prst="rect">
            <a:avLst/>
          </a:prstGeom>
          <a:noFill/>
          <a:ln/>
        </p:spPr>
        <p:txBody>
          <a:bodyPr wrap="square" lIns="0" tIns="0" rIns="0" bIns="0" rtlCol="0" anchor="ctr"/>
          <a:lstStyle/>
          <a:p>
            <a:pPr indent="0" marL="0">
              <a:buNone/>
            </a:pPr>
            <a:r>
              <a:rPr lang="en-US" sz="950" b="1" spc="140" kern="0" dirty="0">
                <a:solidFill>
                  <a:srgbClr val="C6A24B"/>
                </a:solidFill>
                <a:latin typeface="Courier New" pitchFamily="34" charset="0"/>
                <a:ea typeface="Courier New" pitchFamily="34" charset="-122"/>
                <a:cs typeface="Courier New" pitchFamily="34" charset="-120"/>
              </a:rPr>
              <a:t>MACHINE IDENTITIES OUTNUMBER PEOPLE</a:t>
            </a:r>
            <a:endParaRPr lang="en-US" sz="950" dirty="0"/>
          </a:p>
        </p:txBody>
      </p:sp>
      <p:sp>
        <p:nvSpPr>
          <p:cNvPr id="12" name="Text 10"/>
          <p:cNvSpPr txBox="1"/>
          <p:nvPr/>
        </p:nvSpPr>
        <p:spPr>
          <a:xfrm>
            <a:off x="932688" y="4700016"/>
            <a:ext cx="4709160" cy="1005840"/>
          </a:xfrm>
          <a:prstGeom prst="rect">
            <a:avLst/>
          </a:prstGeom>
          <a:noFill/>
          <a:ln/>
        </p:spPr>
        <p:txBody>
          <a:bodyPr wrap="square" lIns="0" tIns="0" rIns="0" bIns="0" rtlCol="0" anchor="ctr"/>
          <a:lstStyle/>
          <a:p>
            <a:pPr indent="0" marL="0">
              <a:lnSpc>
                <a:spcPts val="1700"/>
              </a:lnSpc>
              <a:buNone/>
            </a:pPr>
            <a:r>
              <a:rPr lang="en-US" sz="1250" dirty="0">
                <a:solidFill>
                  <a:srgbClr val="F2F5FA"/>
                </a:solidFill>
                <a:latin typeface="Calibri" pitchFamily="34" charset="0"/>
                <a:ea typeface="Calibri" pitchFamily="34" charset="-122"/>
                <a:cs typeface="Calibri" pitchFamily="34" charset="-120"/>
              </a:rPr>
              <a:t>Service accounts, keys and agent identities are provisioned informally and reviewed almost never. The Delgado case is the human version of a problem that is now mostly non-human.</a:t>
            </a:r>
            <a:endParaRPr lang="en-US" sz="1250" dirty="0"/>
          </a:p>
        </p:txBody>
      </p:sp>
      <p:sp>
        <p:nvSpPr>
          <p:cNvPr id="13" name="Shape 11"/>
          <p:cNvSpPr/>
          <p:nvPr/>
        </p:nvSpPr>
        <p:spPr>
          <a:xfrm>
            <a:off x="6236208" y="4114800"/>
            <a:ext cx="5285232" cy="1719072"/>
          </a:xfrm>
          <a:prstGeom prst="roundRect">
            <a:avLst>
              <a:gd name="adj" fmla="val 3191"/>
            </a:avLst>
          </a:prstGeom>
          <a:solidFill>
            <a:srgbClr val="152743"/>
          </a:solidFill>
          <a:ln w="9525">
            <a:solidFill>
              <a:srgbClr val="1D3453"/>
            </a:solidFill>
            <a:prstDash val="solid"/>
          </a:ln>
        </p:spPr>
      </p:sp>
      <p:sp>
        <p:nvSpPr>
          <p:cNvPr id="14" name="Text 12"/>
          <p:cNvSpPr txBox="1"/>
          <p:nvPr/>
        </p:nvSpPr>
        <p:spPr>
          <a:xfrm>
            <a:off x="6528816" y="4334256"/>
            <a:ext cx="4709160" cy="274320"/>
          </a:xfrm>
          <a:prstGeom prst="rect">
            <a:avLst/>
          </a:prstGeom>
          <a:noFill/>
          <a:ln/>
        </p:spPr>
        <p:txBody>
          <a:bodyPr wrap="square" lIns="0" tIns="0" rIns="0" bIns="0" rtlCol="0" anchor="ctr"/>
          <a:lstStyle/>
          <a:p>
            <a:pPr indent="0" marL="0">
              <a:buNone/>
            </a:pPr>
            <a:r>
              <a:rPr lang="en-US" sz="950" b="1" spc="140" kern="0" dirty="0">
                <a:solidFill>
                  <a:srgbClr val="C6A24B"/>
                </a:solidFill>
                <a:latin typeface="Courier New" pitchFamily="34" charset="0"/>
                <a:ea typeface="Courier New" pitchFamily="34" charset="-122"/>
                <a:cs typeface="Courier New" pitchFamily="34" charset="-120"/>
              </a:rPr>
              <a:t>AGENTS RAISE THE FLOOR AND THE CEILING</a:t>
            </a:r>
            <a:endParaRPr lang="en-US" sz="950" dirty="0"/>
          </a:p>
        </p:txBody>
      </p:sp>
      <p:sp>
        <p:nvSpPr>
          <p:cNvPr id="15" name="Text 13"/>
          <p:cNvSpPr txBox="1"/>
          <p:nvPr/>
        </p:nvSpPr>
        <p:spPr>
          <a:xfrm>
            <a:off x="6528816" y="4700016"/>
            <a:ext cx="4709160" cy="1005840"/>
          </a:xfrm>
          <a:prstGeom prst="rect">
            <a:avLst/>
          </a:prstGeom>
          <a:noFill/>
          <a:ln/>
        </p:spPr>
        <p:txBody>
          <a:bodyPr wrap="square" lIns="0" tIns="0" rIns="0" bIns="0" rtlCol="0" anchor="ctr"/>
          <a:lstStyle/>
          <a:p>
            <a:pPr indent="0" marL="0">
              <a:lnSpc>
                <a:spcPts val="1700"/>
              </a:lnSpc>
              <a:buNone/>
            </a:pPr>
            <a:r>
              <a:rPr lang="en-US" sz="1250" dirty="0">
                <a:solidFill>
                  <a:srgbClr val="F2F5FA"/>
                </a:solidFill>
                <a:latin typeface="Calibri" pitchFamily="34" charset="0"/>
                <a:ea typeface="Calibri" pitchFamily="34" charset="-122"/>
                <a:cs typeface="Calibri" pitchFamily="34" charset="-120"/>
              </a:rPr>
              <a:t>Frontier models crossed critical cybersecurity thresholds in 2026. The same capability that finds an exposed admin account can find it from the outside first.</a:t>
            </a:r>
            <a:endParaRPr lang="en-US" sz="1250" dirty="0"/>
          </a:p>
        </p:txBody>
      </p:sp>
      <p:sp>
        <p:nvSpPr>
          <p:cNvPr id="16" name="Text 14"/>
          <p:cNvSpPr txBox="1"/>
          <p:nvPr/>
        </p:nvSpPr>
        <p:spPr>
          <a:xfrm>
            <a:off x="640080" y="6172200"/>
            <a:ext cx="10881360" cy="365760"/>
          </a:xfrm>
          <a:prstGeom prst="rect">
            <a:avLst/>
          </a:prstGeom>
          <a:noFill/>
          <a:ln/>
        </p:spPr>
        <p:txBody>
          <a:bodyPr wrap="square" lIns="0" tIns="0" rIns="0" bIns="0" rtlCol="0" anchor="ctr"/>
          <a:lstStyle/>
          <a:p>
            <a:pPr indent="0" marL="0">
              <a:buNone/>
            </a:pPr>
            <a:r>
              <a:rPr lang="en-US" sz="1500" i="1" dirty="0">
                <a:solidFill>
                  <a:srgbClr val="C6A24B"/>
                </a:solidFill>
                <a:latin typeface="Cambria" pitchFamily="34" charset="0"/>
                <a:ea typeface="Cambria" pitchFamily="34" charset="-122"/>
                <a:cs typeface="Cambria" pitchFamily="34" charset="-120"/>
              </a:rPr>
              <a:t>Every one of these makes the same demand: not better judgement, but a record that can be reconstructed.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000" spc="240" kern="0" dirty="0">
                <a:solidFill>
                  <a:srgbClr val="00D4E6"/>
                </a:solidFill>
                <a:latin typeface="Courier New" pitchFamily="34" charset="0"/>
                <a:ea typeface="Courier New" pitchFamily="34" charset="-122"/>
                <a:cs typeface="Courier New" pitchFamily="34" charset="-120"/>
              </a:rPr>
              <a:t>WHERE IT STANDS</a:t>
            </a:r>
            <a:endParaRPr lang="en-US" sz="10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600" b="1" dirty="0">
                <a:solidFill>
                  <a:srgbClr val="F2F5FA"/>
                </a:solidFill>
                <a:latin typeface="Cambria" pitchFamily="34" charset="0"/>
                <a:ea typeface="Cambria" pitchFamily="34" charset="-122"/>
                <a:cs typeface="Cambria" pitchFamily="34" charset="-120"/>
              </a:rPr>
              <a:t>Built, and honest about the seams</a:t>
            </a:r>
            <a:endParaRPr lang="en-US" sz="3600" dirty="0"/>
          </a:p>
        </p:txBody>
      </p:sp>
      <p:sp>
        <p:nvSpPr>
          <p:cNvPr id="4" name="Shape 2"/>
          <p:cNvSpPr/>
          <p:nvPr/>
        </p:nvSpPr>
        <p:spPr>
          <a:xfrm>
            <a:off x="640080" y="2011680"/>
            <a:ext cx="5349240" cy="3840480"/>
          </a:xfrm>
          <a:prstGeom prst="roundRect">
            <a:avLst>
              <a:gd name="adj" fmla="val 1429"/>
            </a:avLst>
          </a:prstGeom>
          <a:solidFill>
            <a:srgbClr val="13304F"/>
          </a:solidFill>
          <a:ln w="9525">
            <a:solidFill>
              <a:srgbClr val="1D3453"/>
            </a:solidFill>
            <a:prstDash val="solid"/>
          </a:ln>
        </p:spPr>
      </p:sp>
      <p:sp>
        <p:nvSpPr>
          <p:cNvPr id="5" name="Text 3"/>
          <p:cNvSpPr txBox="1"/>
          <p:nvPr/>
        </p:nvSpPr>
        <p:spPr>
          <a:xfrm>
            <a:off x="932688" y="2240280"/>
            <a:ext cx="4754880" cy="274320"/>
          </a:xfrm>
          <a:prstGeom prst="rect">
            <a:avLst/>
          </a:prstGeom>
          <a:noFill/>
          <a:ln/>
        </p:spPr>
        <p:txBody>
          <a:bodyPr wrap="square" lIns="0" tIns="0" rIns="0" bIns="0" rtlCol="0" anchor="ctr"/>
          <a:lstStyle/>
          <a:p>
            <a:pPr indent="0" marL="0">
              <a:buNone/>
            </a:pPr>
            <a:r>
              <a:rPr lang="en-US" sz="1000" b="1" spc="180" kern="0" dirty="0">
                <a:solidFill>
                  <a:srgbClr val="00D4E6"/>
                </a:solidFill>
                <a:latin typeface="Courier New" pitchFamily="34" charset="0"/>
                <a:ea typeface="Courier New" pitchFamily="34" charset="-122"/>
                <a:cs typeface="Courier New" pitchFamily="34" charset="-120"/>
              </a:rPr>
              <a:t>WORKING TODAY</a:t>
            </a:r>
            <a:endParaRPr lang="en-US" sz="1000" dirty="0"/>
          </a:p>
        </p:txBody>
      </p:sp>
      <p:sp>
        <p:nvSpPr>
          <p:cNvPr id="6" name="Text 4"/>
          <p:cNvSpPr txBox="1"/>
          <p:nvPr/>
        </p:nvSpPr>
        <p:spPr>
          <a:xfrm>
            <a:off x="932688" y="2651760"/>
            <a:ext cx="4754880" cy="301752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50" dirty="0">
                <a:solidFill>
                  <a:srgbClr val="F2F5FA"/>
                </a:solidFill>
                <a:latin typeface="Calibri" pitchFamily="34" charset="0"/>
                <a:ea typeface="Calibri" pitchFamily="34" charset="-122"/>
                <a:cs typeface="Calibri" pitchFamily="34" charset="-120"/>
              </a:rPr>
              <a:t>Deterministic rule engine over access and asset records</a:t>
            </a:r>
            <a:endParaRPr lang="en-US" sz="1250" dirty="0"/>
          </a:p>
          <a:p>
            <a:pPr marL="342900" indent="-342900">
              <a:lnSpc>
                <a:spcPts val="1600"/>
              </a:lnSpc>
              <a:spcAft>
                <a:spcPts val="1000"/>
              </a:spcAft>
              <a:buSzPct val="100000"/>
              <a:buChar char="•"/>
            </a:pPr>
            <a:r>
              <a:rPr lang="en-US" sz="1250" dirty="0">
                <a:solidFill>
                  <a:srgbClr val="F2F5FA"/>
                </a:solidFill>
                <a:latin typeface="Calibri" pitchFamily="34" charset="0"/>
                <a:ea typeface="Calibri" pitchFamily="34" charset="-122"/>
                <a:cs typeface="Calibri" pitchFamily="34" charset="-120"/>
              </a:rPr>
              <a:t>13 findings with source file, severity and policy citation</a:t>
            </a:r>
            <a:endParaRPr lang="en-US" sz="1250" dirty="0"/>
          </a:p>
          <a:p>
            <a:pPr marL="342900" indent="-342900">
              <a:lnSpc>
                <a:spcPts val="1600"/>
              </a:lnSpc>
              <a:spcAft>
                <a:spcPts val="1000"/>
              </a:spcAft>
              <a:buSzPct val="100000"/>
              <a:buChar char="•"/>
            </a:pPr>
            <a:r>
              <a:rPr lang="en-US" sz="1250" dirty="0">
                <a:solidFill>
                  <a:srgbClr val="F2F5FA"/>
                </a:solidFill>
                <a:latin typeface="Calibri" pitchFamily="34" charset="0"/>
                <a:ea typeface="Calibri" pitchFamily="34" charset="-122"/>
                <a:cs typeface="Calibri" pitchFamily="34" charset="-120"/>
              </a:rPr>
              <a:t>Questionnaire coverage counted across 14 topics</a:t>
            </a:r>
            <a:endParaRPr lang="en-US" sz="1250" dirty="0"/>
          </a:p>
          <a:p>
            <a:pPr marL="342900" indent="-342900">
              <a:lnSpc>
                <a:spcPts val="1600"/>
              </a:lnSpc>
              <a:spcAft>
                <a:spcPts val="1000"/>
              </a:spcAft>
              <a:buSzPct val="100000"/>
              <a:buChar char="•"/>
            </a:pPr>
            <a:r>
              <a:rPr lang="en-US" sz="1250" dirty="0">
                <a:solidFill>
                  <a:srgbClr val="F2F5FA"/>
                </a:solidFill>
                <a:latin typeface="Calibri" pitchFamily="34" charset="0"/>
                <a:ea typeface="Calibri" pitchFamily="34" charset="-122"/>
                <a:cs typeface="Calibri" pitchFamily="34" charset="-120"/>
              </a:rPr>
              <a:t>24-control program gap tracker with owner and evidence</a:t>
            </a:r>
            <a:endParaRPr lang="en-US" sz="1250" dirty="0"/>
          </a:p>
          <a:p>
            <a:pPr marL="342900" indent="-342900">
              <a:lnSpc>
                <a:spcPts val="1600"/>
              </a:lnSpc>
              <a:spcAft>
                <a:spcPts val="1000"/>
              </a:spcAft>
              <a:buSzPct val="100000"/>
              <a:buChar char="•"/>
            </a:pPr>
            <a:r>
              <a:rPr lang="en-US" sz="1250" dirty="0">
                <a:solidFill>
                  <a:srgbClr val="F2F5FA"/>
                </a:solidFill>
                <a:latin typeface="Calibri" pitchFamily="34" charset="0"/>
                <a:ea typeface="Calibri" pitchFamily="34" charset="-122"/>
                <a:cs typeface="Calibri" pitchFamily="34" charset="-120"/>
              </a:rPr>
              <a:t>Voice session live, briefed from the compiled findings</a:t>
            </a:r>
            <a:endParaRPr lang="en-US" sz="1250" dirty="0"/>
          </a:p>
          <a:p>
            <a:pPr marL="342900" indent="-342900">
              <a:lnSpc>
                <a:spcPts val="1600"/>
              </a:lnSpc>
              <a:spcAft>
                <a:spcPts val="1000"/>
              </a:spcAft>
              <a:buSzPct val="100000"/>
              <a:buChar char="•"/>
            </a:pPr>
            <a:r>
              <a:rPr lang="en-US" sz="1250" dirty="0">
                <a:solidFill>
                  <a:srgbClr val="F2F5FA"/>
                </a:solidFill>
                <a:latin typeface="Calibri" pitchFamily="34" charset="0"/>
                <a:ea typeface="Calibri" pitchFamily="34" charset="-122"/>
                <a:cs typeface="Calibri" pitchFamily="34" charset="-120"/>
              </a:rPr>
              <a:t>No write path to any source system, by construction</a:t>
            </a:r>
            <a:endParaRPr lang="en-US" sz="1250" dirty="0"/>
          </a:p>
        </p:txBody>
      </p:sp>
      <p:sp>
        <p:nvSpPr>
          <p:cNvPr id="7" name="Shape 5"/>
          <p:cNvSpPr/>
          <p:nvPr/>
        </p:nvSpPr>
        <p:spPr>
          <a:xfrm>
            <a:off x="6172200" y="2011680"/>
            <a:ext cx="5349240" cy="3840480"/>
          </a:xfrm>
          <a:prstGeom prst="roundRect">
            <a:avLst>
              <a:gd name="adj" fmla="val 1429"/>
            </a:avLst>
          </a:prstGeom>
          <a:solidFill>
            <a:srgbClr val="152743"/>
          </a:solidFill>
          <a:ln w="9525">
            <a:solidFill>
              <a:srgbClr val="1D3453"/>
            </a:solidFill>
            <a:prstDash val="solid"/>
          </a:ln>
        </p:spPr>
      </p:sp>
      <p:sp>
        <p:nvSpPr>
          <p:cNvPr id="8" name="Text 6"/>
          <p:cNvSpPr txBox="1"/>
          <p:nvPr/>
        </p:nvSpPr>
        <p:spPr>
          <a:xfrm>
            <a:off x="6464808" y="2240280"/>
            <a:ext cx="4754880" cy="274320"/>
          </a:xfrm>
          <a:prstGeom prst="rect">
            <a:avLst/>
          </a:prstGeom>
          <a:noFill/>
          <a:ln/>
        </p:spPr>
        <p:txBody>
          <a:bodyPr wrap="square" lIns="0" tIns="0" rIns="0" bIns="0" rtlCol="0" anchor="ctr"/>
          <a:lstStyle/>
          <a:p>
            <a:pPr indent="0" marL="0">
              <a:buNone/>
            </a:pPr>
            <a:r>
              <a:rPr lang="en-US" sz="1000" b="1" spc="180" kern="0" dirty="0">
                <a:solidFill>
                  <a:srgbClr val="C6A24B"/>
                </a:solidFill>
                <a:latin typeface="Courier New" pitchFamily="34" charset="0"/>
                <a:ea typeface="Courier New" pitchFamily="34" charset="-122"/>
                <a:cs typeface="Courier New" pitchFamily="34" charset="-120"/>
              </a:rPr>
              <a:t>NEXT</a:t>
            </a:r>
            <a:endParaRPr lang="en-US" sz="1000" dirty="0"/>
          </a:p>
        </p:txBody>
      </p:sp>
      <p:sp>
        <p:nvSpPr>
          <p:cNvPr id="9" name="Text 7"/>
          <p:cNvSpPr txBox="1"/>
          <p:nvPr/>
        </p:nvSpPr>
        <p:spPr>
          <a:xfrm>
            <a:off x="6464808" y="2651760"/>
            <a:ext cx="4754880" cy="301752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50" dirty="0">
                <a:solidFill>
                  <a:srgbClr val="8FA0BA"/>
                </a:solidFill>
                <a:latin typeface="Calibri" pitchFamily="34" charset="0"/>
                <a:ea typeface="Calibri" pitchFamily="34" charset="-122"/>
                <a:cs typeface="Calibri" pitchFamily="34" charset="-120"/>
              </a:rPr>
              <a:t>Move grounding from briefing to live tool calls</a:t>
            </a:r>
            <a:endParaRPr lang="en-US" sz="1250" dirty="0"/>
          </a:p>
          <a:p>
            <a:pPr marL="342900" indent="-342900">
              <a:lnSpc>
                <a:spcPts val="1600"/>
              </a:lnSpc>
              <a:spcAft>
                <a:spcPts val="1000"/>
              </a:spcAft>
              <a:buSzPct val="100000"/>
              <a:buChar char="•"/>
            </a:pPr>
            <a:r>
              <a:rPr lang="en-US" sz="1250" dirty="0">
                <a:solidFill>
                  <a:srgbClr val="8FA0BA"/>
                </a:solidFill>
                <a:latin typeface="Calibri" pitchFamily="34" charset="0"/>
                <a:ea typeface="Calibri" pitchFamily="34" charset="-122"/>
                <a:cs typeface="Calibri" pitchFamily="34" charset="-120"/>
              </a:rPr>
              <a:t>Cross-file rules — join asset offboarding to access records</a:t>
            </a:r>
            <a:endParaRPr lang="en-US" sz="1250" dirty="0"/>
          </a:p>
          <a:p>
            <a:pPr marL="342900" indent="-342900">
              <a:lnSpc>
                <a:spcPts val="1600"/>
              </a:lnSpc>
              <a:spcAft>
                <a:spcPts val="1000"/>
              </a:spcAft>
              <a:buSzPct val="100000"/>
              <a:buChar char="•"/>
            </a:pPr>
            <a:r>
              <a:rPr lang="en-US" sz="1250" dirty="0">
                <a:solidFill>
                  <a:srgbClr val="8FA0BA"/>
                </a:solidFill>
                <a:latin typeface="Calibri" pitchFamily="34" charset="0"/>
                <a:ea typeface="Calibri" pitchFamily="34" charset="-122"/>
                <a:cs typeface="Calibri" pitchFamily="34" charset="-120"/>
              </a:rPr>
              <a:t>Ingest the source documents directly rather than transcribed</a:t>
            </a:r>
            <a:endParaRPr lang="en-US" sz="1250" dirty="0"/>
          </a:p>
          <a:p>
            <a:pPr marL="342900" indent="-342900">
              <a:lnSpc>
                <a:spcPts val="1600"/>
              </a:lnSpc>
              <a:spcAft>
                <a:spcPts val="1000"/>
              </a:spcAft>
              <a:buSzPct val="100000"/>
              <a:buChar char="•"/>
            </a:pPr>
            <a:r>
              <a:rPr lang="en-US" sz="1250" dirty="0">
                <a:solidFill>
                  <a:srgbClr val="8FA0BA"/>
                </a:solidFill>
                <a:latin typeface="Calibri" pitchFamily="34" charset="0"/>
                <a:ea typeface="Calibri" pitchFamily="34" charset="-122"/>
                <a:cs typeface="Calibri" pitchFamily="34" charset="-120"/>
              </a:rPr>
              <a:t>Server-side persistence and exportable evidence packs</a:t>
            </a:r>
            <a:endParaRPr lang="en-US" sz="1250" dirty="0"/>
          </a:p>
          <a:p>
            <a:pPr marL="342900" indent="-342900">
              <a:lnSpc>
                <a:spcPts val="1600"/>
              </a:lnSpc>
              <a:spcAft>
                <a:spcPts val="1000"/>
              </a:spcAft>
              <a:buSzPct val="100000"/>
              <a:buChar char="•"/>
            </a:pPr>
            <a:r>
              <a:rPr lang="en-US" sz="1250" dirty="0">
                <a:solidFill>
                  <a:srgbClr val="8FA0BA"/>
                </a:solidFill>
                <a:latin typeface="Calibri" pitchFamily="34" charset="0"/>
                <a:ea typeface="Calibri" pitchFamily="34" charset="-122"/>
                <a:cs typeface="Calibri" pitchFamily="34" charset="-120"/>
              </a:rPr>
              <a:t>Refusal evaluation suite for out-of-corpus questions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B33"/>
        </a:solidFill>
      </p:bgPr>
    </p:bg>
    <p:spTree>
      <p:nvGrpSpPr>
        <p:cNvPr id="1" name=""/>
        <p:cNvGrpSpPr/>
        <p:nvPr/>
      </p:nvGrpSpPr>
      <p:grpSpPr>
        <a:xfrm>
          <a:off x="0" y="0"/>
          <a:ext cx="0" cy="0"/>
          <a:chOff x="0" y="0"/>
          <a:chExt cx="0" cy="0"/>
        </a:xfrm>
      </p:grpSpPr>
      <p:sp>
        <p:nvSpPr>
          <p:cNvPr id="2" name="Shape 0"/>
          <p:cNvSpPr/>
          <p:nvPr/>
        </p:nvSpPr>
        <p:spPr>
          <a:xfrm>
            <a:off x="640080" y="1874520"/>
            <a:ext cx="1554480" cy="32004"/>
          </a:xfrm>
          <a:prstGeom prst="rect">
            <a:avLst/>
          </a:prstGeom>
          <a:solidFill>
            <a:srgbClr val="00D4E6"/>
          </a:solidFill>
          <a:ln w="12700">
            <a:solidFill>
              <a:srgbClr val="00D4E6"/>
            </a:solidFill>
            <a:prstDash val="solid"/>
          </a:ln>
        </p:spPr>
      </p:sp>
      <p:sp>
        <p:nvSpPr>
          <p:cNvPr id="3" name="Text 1"/>
          <p:cNvSpPr txBox="1"/>
          <p:nvPr/>
        </p:nvSpPr>
        <p:spPr>
          <a:xfrm>
            <a:off x="640080" y="1371600"/>
            <a:ext cx="8229600" cy="274320"/>
          </a:xfrm>
          <a:prstGeom prst="rect">
            <a:avLst/>
          </a:prstGeom>
          <a:noFill/>
          <a:ln/>
        </p:spPr>
        <p:txBody>
          <a:bodyPr wrap="square" lIns="0" tIns="0" rIns="0" bIns="0" rtlCol="0" anchor="ctr"/>
          <a:lstStyle/>
          <a:p>
            <a:pPr indent="0" marL="0">
              <a:buNone/>
            </a:pPr>
            <a:r>
              <a:rPr lang="en-US" sz="1100" spc="300" kern="0" dirty="0">
                <a:solidFill>
                  <a:srgbClr val="00D4E6"/>
                </a:solidFill>
                <a:latin typeface="Courier New" pitchFamily="34" charset="0"/>
                <a:ea typeface="Courier New" pitchFamily="34" charset="-122"/>
                <a:cs typeface="Courier New" pitchFamily="34" charset="-120"/>
              </a:rPr>
              <a:t>The claim</a:t>
            </a:r>
            <a:endParaRPr lang="en-US" sz="1100" dirty="0"/>
          </a:p>
        </p:txBody>
      </p:sp>
      <p:sp>
        <p:nvSpPr>
          <p:cNvPr id="4" name="Text 2"/>
          <p:cNvSpPr txBox="1"/>
          <p:nvPr/>
        </p:nvSpPr>
        <p:spPr>
          <a:xfrm>
            <a:off x="640080" y="2286000"/>
            <a:ext cx="10424160" cy="2011680"/>
          </a:xfrm>
          <a:prstGeom prst="rect">
            <a:avLst/>
          </a:prstGeom>
          <a:noFill/>
          <a:ln/>
        </p:spPr>
        <p:txBody>
          <a:bodyPr wrap="square" lIns="0" tIns="0" rIns="0" bIns="0" rtlCol="0" anchor="ctr"/>
          <a:lstStyle/>
          <a:p>
            <a:pPr indent="0" marL="0">
              <a:lnSpc>
                <a:spcPts val="5200"/>
              </a:lnSpc>
              <a:buNone/>
            </a:pPr>
            <a:r>
              <a:rPr lang="en-US" sz="4000" b="1" dirty="0">
                <a:solidFill>
                  <a:srgbClr val="F2F5FA"/>
                </a:solidFill>
                <a:latin typeface="Cambria" pitchFamily="34" charset="0"/>
                <a:ea typeface="Cambria" pitchFamily="34" charset="-122"/>
                <a:cs typeface="Cambria" pitchFamily="34" charset="-120"/>
              </a:rPr>
              <a:t>Most companies are not</a:t>
            </a:r>
            <a:endParaRPr lang="en-US" sz="4000" dirty="0"/>
          </a:p>
          <a:p>
            <a:pPr indent="0" marL="0">
              <a:lnSpc>
                <a:spcPts val="5200"/>
              </a:lnSpc>
              <a:buNone/>
            </a:pPr>
            <a:r>
              <a:rPr lang="en-US" sz="4000" b="1" dirty="0">
                <a:solidFill>
                  <a:srgbClr val="F2F5FA"/>
                </a:solidFill>
                <a:latin typeface="Cambria" pitchFamily="34" charset="0"/>
                <a:ea typeface="Cambria" pitchFamily="34" charset="-122"/>
                <a:cs typeface="Cambria" pitchFamily="34" charset="-120"/>
              </a:rPr>
              <a:t>non-compliant. They are</a:t>
            </a:r>
            <a:endParaRPr lang="en-US" sz="4000" dirty="0"/>
          </a:p>
          <a:p>
            <a:pPr indent="0" marL="0">
              <a:lnSpc>
                <a:spcPts val="5200"/>
              </a:lnSpc>
              <a:buNone/>
            </a:pPr>
            <a:r>
              <a:rPr lang="en-US" sz="4000" b="1" dirty="0">
                <a:solidFill>
                  <a:srgbClr val="F2F5FA"/>
                </a:solidFill>
                <a:latin typeface="Cambria" pitchFamily="34" charset="0"/>
                <a:ea typeface="Cambria" pitchFamily="34" charset="-122"/>
                <a:cs typeface="Cambria" pitchFamily="34" charset="-120"/>
              </a:rPr>
              <a:t>unassembled.</a:t>
            </a:r>
            <a:endParaRPr lang="en-US" sz="4000" dirty="0"/>
          </a:p>
        </p:txBody>
      </p:sp>
      <p:sp>
        <p:nvSpPr>
          <p:cNvPr id="5" name="Text 3"/>
          <p:cNvSpPr txBox="1"/>
          <p:nvPr/>
        </p:nvSpPr>
        <p:spPr>
          <a:xfrm>
            <a:off x="640080" y="4572000"/>
            <a:ext cx="9509760" cy="914400"/>
          </a:xfrm>
          <a:prstGeom prst="rect">
            <a:avLst/>
          </a:prstGeom>
          <a:noFill/>
          <a:ln/>
        </p:spPr>
        <p:txBody>
          <a:bodyPr wrap="square" lIns="0" tIns="0" rIns="0" bIns="0" rtlCol="0" anchor="ctr"/>
          <a:lstStyle/>
          <a:p>
            <a:pPr indent="0" marL="0">
              <a:lnSpc>
                <a:spcPts val="2300"/>
              </a:lnSpc>
              <a:buNone/>
            </a:pPr>
            <a:r>
              <a:rPr lang="en-US" sz="1500" dirty="0">
                <a:solidFill>
                  <a:srgbClr val="8FA0BA"/>
                </a:solidFill>
                <a:latin typeface="Calibri" pitchFamily="34" charset="0"/>
                <a:ea typeface="Calibri" pitchFamily="34" charset="-122"/>
                <a:cs typeface="Calibri" pitchFamily="34" charset="-120"/>
              </a:rPr>
              <a:t>The evidence is already written down, in files that are never open at the same time. CompliGuide reads them together, raises what does not line up, cites where it came from, and hands a person something they can defend.</a:t>
            </a:r>
            <a:endParaRPr lang="en-US" sz="1500" dirty="0"/>
          </a:p>
        </p:txBody>
      </p:sp>
      <p:sp>
        <p:nvSpPr>
          <p:cNvPr id="6" name="Shape 4"/>
          <p:cNvSpPr/>
          <p:nvPr/>
        </p:nvSpPr>
        <p:spPr>
          <a:xfrm>
            <a:off x="640080" y="5715000"/>
            <a:ext cx="10881360" cy="18288"/>
          </a:xfrm>
          <a:prstGeom prst="rect">
            <a:avLst/>
          </a:prstGeom>
          <a:solidFill>
            <a:srgbClr val="2C3E5C"/>
          </a:solidFill>
          <a:ln w="12700">
            <a:solidFill>
              <a:srgbClr val="2C3E5C"/>
            </a:solidFill>
            <a:prstDash val="solid"/>
          </a:ln>
        </p:spPr>
      </p:sp>
      <p:sp>
        <p:nvSpPr>
          <p:cNvPr id="7" name="Text 5"/>
          <p:cNvSpPr txBox="1"/>
          <p:nvPr/>
        </p:nvSpPr>
        <p:spPr>
          <a:xfrm>
            <a:off x="640080" y="5897880"/>
            <a:ext cx="10881360" cy="274320"/>
          </a:xfrm>
          <a:prstGeom prst="rect">
            <a:avLst/>
          </a:prstGeom>
          <a:noFill/>
          <a:ln/>
        </p:spPr>
        <p:txBody>
          <a:bodyPr wrap="square" lIns="0" tIns="0" rIns="0" bIns="0" rtlCol="0" anchor="ctr"/>
          <a:lstStyle/>
          <a:p>
            <a:pPr indent="0" marL="0">
              <a:buNone/>
            </a:pPr>
            <a:r>
              <a:rPr lang="en-US" sz="950" spc="160" kern="0" dirty="0">
                <a:solidFill>
                  <a:srgbClr val="8FA0BA"/>
                </a:solidFill>
                <a:latin typeface="Courier New" pitchFamily="34" charset="0"/>
                <a:ea typeface="Courier New" pitchFamily="34" charset="-122"/>
                <a:cs typeface="Courier New" pitchFamily="34" charset="-120"/>
              </a:rPr>
              <a:t>BLACK CHAMBER  ·  SERAPH SYSTEMS LLC  ·  GITHUB.COM/MKULTRA00/COMPLIGUIDE-AI</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2026-09-05T18:40:21Z</dcterms:created>
  <dcterms:modified xsi:type="dcterms:W3CDTF">2026-09-05T18:40:21Z</dcterms:modified>
</cp:coreProperties>
</file>